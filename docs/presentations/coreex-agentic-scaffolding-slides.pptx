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3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3" r:id="rId2"/>
    <p:sldMasterId id="2147483726" r:id="rId3"/>
    <p:sldMasterId id="2147483759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95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91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8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833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047924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657509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267093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4876678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Executive Summary" id="{B5E93DC0-0710-483B-AA49-C1AC244D4F9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Technical Deep Dive" id="{0A63E52E-2060-4184-921F-B173318EB1C8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77B34-D266-41B6-9A59-DE697B843F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52736-17ED-41F1-B4CA-DCC5F064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2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section is designed for executive stakeholders. It focuses on outcomes, risk reduction, and delivery acceleration.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52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CoreEx reduces setup variability and enables teams to start from proven implementation patterns. It is especially effective when teams need rapid evidence of value in the first phase of a delivery.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32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key message: not deterministic versus agentic, but deterministic core plus agentic acceleration. Teams can begin with rapid exploration, then lock into repeatable patterns as delivery matures.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97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CoreEx is not a generic framework toolkit that teams must assemble from scratch. It is an opinionated accelerator with practical defaults.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9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Executives get both standardization and optionality.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9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Treat scaffolding as a strategic product capability, not a one-off project artifact. This improves continuity when ownership transitions to long-term product teams.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40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next section provides implementation depth for architects and engineering leads.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2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deck explains how we move from manual scaffolding to an agentic, policy-driven workflow that is repeatable, governed, and practical for teams starting new CoreEx implementations.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62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are not replacing engineering judgment. We are automating boilerplate and codifying known-good patterns so teams can spend time on domain behavior.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48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key idea is layered context. Prompts ask for what we need, skills decide what to generate, instructions govern how to write code, and templates provide deterministic structure.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77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Everything needed is shipped as repository assets. Teams do not start from a blank prompt.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08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controlled autonomy. The agent handles deterministic work while still adapting to requested features and domains. Humans remain accountable for correctness, semantics, and trade-off decisions.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15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flow is intentionally explicit so we can audit and improve each stage.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20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hierarchy reduces ambiguity. If a rule exists in multiple places, the narrower scope wins for generation behavior.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88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generated shape matches CoreEx reference architecture, keeps dependencies layered and predictable, and gives teams a ready-to-use microservices/event-driven baseline.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11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diagram demonstrates the CoreEx pattern in practice: independent domain services with local transaction boundaries and outbox-driven integration. Product and Shopping remain decoupled operationally, while events over queue or stream coordinate cross-domain workflows.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76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not a choice between deterministic and agentic. CoreEx combines both: deterministic scaffolding for foundation, agentic adaptation for domain acceleration.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94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Guardrails shift many common review comments from late discovery to immediate generation-time enforcement.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528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Teams can adopt this as a standard onboarding and delivery playbook.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27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level of intent is enough for the agent to scaffold an entire repo, including domains, hosts, and tests, while honoring architecture constraints.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33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CoreEx accelerates teams by providing a pre-wired, opinionated path that removes setup churn and allows focus on business capabilities. It also reduces operational risk by leaving behind predictable, supportable implementation assets.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66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CoreEx gives an opinionated architecture, not a hard platform lock. Teams can keep consistency while selecting infrastructure that fits enterprise constraints.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77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is the CoreEx baseline inventory. It communicates the practical accelerator: teams pull in tested primitives instead of recreating them per project.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717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where friction drops versus generic frameworks: CoreEx packages wire these conventions directly so teams avoid repeated plumbing decisions.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87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CoreEx aligns eventing and domain modeling so distributed services remain explicit, testable, and consistent across teams.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79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makes current maturity and future direction explicit for stakeholders. It also reinforces that platform portability is planned and active, not theoretical.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0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Agentic does not remove governance. It improves it when paired with clear controls.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28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Measure both speed and quality. The objective is not just faster generation, but better initial correctness.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378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slides are grounded in repository assets and can be updated as those assets evolve.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52736-17ED-41F1-B4CA-DCC5F064D77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svg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40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76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1242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70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67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05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97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60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08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61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59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80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72768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6498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565395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56643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2063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3981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58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50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501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3108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25670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0914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926333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1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94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8951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78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12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650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114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C29D-85D1-0C11-B8EE-4046AB8F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C0D31-917F-B82A-5B28-B1F964811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6567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55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80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4812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7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89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00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01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71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4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31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92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829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50390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06762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785703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604800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1734689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4104578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7959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83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211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1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213448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7627205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495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6606027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0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33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817418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58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860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81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36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72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67663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646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60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03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28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14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00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91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65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44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1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83656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57662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4002062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22149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886745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1940468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64685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65262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507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65551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213448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124277152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784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9275899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84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20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2118687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6882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648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7622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5526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5A1C9-6E64-BD80-664F-73D8FA9F7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4EB15CB-DB97-7369-BE85-D7B306032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043631-CA1F-72E1-FA33-47D6B7E96776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070B284F-70A1-4575-8A69-1E7D15DA9A5E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pic>
        <p:nvPicPr>
          <p:cNvPr id="15" name="Picture 14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D8B662F2-578E-161B-B1FF-4F0F0FE0EC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A4B2E99C-298D-718C-3E87-C7CDDD466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2C48BD7-3C34-B08C-255C-79D84CBB1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C5AC77-1855-61A1-86D8-42A6577554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91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9608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content 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3A65A1-9BA3-5FEF-DE29-03D2316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A41A8C1-B8C7-CD46-761F-46CE1B067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46B96-3CC5-5C8F-04B9-4CE029F39C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D2A1FA7-0803-D4CC-504D-5BDE1BEA9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8EE113-52F0-8B79-0BF0-8E16E678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656D415-4863-1D64-3877-DBA6E4130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1537A39-CABD-B23A-D113-CC67D83B4B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D273C62-EB99-279D-64E8-B884873C1D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504631-2507-0CA3-F9E5-494297A5C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60B328A-161C-B1DE-AD05-79864CA604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2B228A-159A-2D8A-16F5-F2A802F21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27A143F-F4D2-5A3E-22A8-51FB3E73A9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5176CA-787A-D4DA-EEF2-076A771A3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72682CC-6D2C-8D80-DBD7-C00C270BCE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8A8336A-008C-A965-E68A-0E864E02ED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82EAC7B-5B4B-53CB-109D-4CC72EF998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4F3D01-94BF-DD9F-673F-CF5F5D6FB2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C54AC7D-40F8-F738-5162-DD66314085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7E4674F-8891-BABB-F6D9-7791E6333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F752569-F23E-EC6E-C511-B8E034158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9223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n content aurora">
    <p:bg bwMode="ltGray">
      <p:bgPr>
        <a:gradFill flip="none" rotWithShape="1">
          <a:gsLst>
            <a:gs pos="4000">
              <a:schemeClr val="accent1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AE150103-C9EC-F091-783C-8228210D5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78929EE-90EC-E796-2FD6-3D3D82F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457200"/>
            <a:ext cx="11191329" cy="60277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11E09F-F173-578E-C704-272662FE4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81485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9FECAE49-9679-0CDD-0407-0BAF86416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58820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3C46CF-751D-000D-3F46-7CD49BC54C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381485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3C6C9583-E61D-582B-B9F7-A9C2B3611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058820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BC0CA3EB-96C1-5028-EA40-CB74581DF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381485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07C6DA12-C67C-87E7-53A4-7C2545D74A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058820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5D0910C9-255F-A524-0C50-A8A611830B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381485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3292D09D-8321-0815-34B0-29B288A611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058820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4F7E66C4-97B3-9428-2D76-AAAB36828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381485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780D0E5D-3D84-5E66-EA78-92C5998599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058820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356BAD5F-B05C-19B7-98B5-8CDE61BD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731206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12D9248-7969-3866-8568-A6E4BB33F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408541"/>
            <a:ext cx="2115353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166A944-73A4-AE9E-9D5C-AFA9AE67B4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64483" y="3731206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EF8C358E-4E72-6D47-AC9B-9E98B5D1E3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4483" y="4408541"/>
            <a:ext cx="2108785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06F580CB-EA27-B73D-81A6-33C38D85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998" y="3731206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A91DDBEF-7B61-2A23-2299-AEEDC6436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998" y="4408541"/>
            <a:ext cx="2102217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00EC9594-0701-921F-7462-BA195E840E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4944" y="3731206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76DAD3E8-0F4D-10B6-A548-319AF122BA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94944" y="4408541"/>
            <a:ext cx="2102219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F29B8C8-51B6-160A-A9F0-64EDB98E77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6893" y="3731206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F87CC49F-ACC8-5D30-0627-14DD7643BB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6893" y="4408541"/>
            <a:ext cx="2102220" cy="12897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47AB53-C691-5013-D7C3-027518C8D5B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B1E1B65-15D6-47E3-B4BC-3965E710E8B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EE76-3E4C-DA2E-5C84-59C444F5754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805073-BB1F-D8CD-4F91-42AE7324BA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5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aurora">
    <p:bg bwMode="ltGray"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8730EC-DD51-B99C-842B-EFFBD0F67082}"/>
              </a:ext>
            </a:extLst>
          </p:cNvPr>
          <p:cNvSpPr/>
          <p:nvPr userDrawn="1"/>
        </p:nvSpPr>
        <p:spPr>
          <a:xfrm>
            <a:off x="1" y="0"/>
            <a:ext cx="7180735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0"/>
                  <a:alpha val="0"/>
                </a:schemeClr>
              </a:gs>
              <a:gs pos="0">
                <a:schemeClr val="accent1">
                  <a:lumMod val="0"/>
                  <a:alpha val="800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 dirty="0"/>
          </a:p>
        </p:txBody>
      </p:sp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64C3455E-1EFC-A442-358F-8FE75BAFB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974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3D437056-B5AC-4147-6F6D-1181C07464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2621"/>
            <a:ext cx="12192000" cy="15372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83" y="2077065"/>
            <a:ext cx="11191329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Contents</a:t>
            </a:r>
            <a:endParaRPr lang="en-ZA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226675"/>
            <a:ext cx="2115353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4226675"/>
            <a:ext cx="2108785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4226675"/>
            <a:ext cx="2102217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4226675"/>
            <a:ext cx="2102219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4226675"/>
            <a:ext cx="2102220" cy="15663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B1F28E-6795-78DB-A045-E2E347D98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1783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1C44F5D-FB9F-EB95-0B4A-BE0D77BECE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7014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E5E256D-3E41-D488-251F-B196C454B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8962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A599352-4552-0564-9355-1A48F0E32E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60910" y="3245913"/>
            <a:ext cx="827147" cy="833780"/>
          </a:xfrm>
          <a:prstGeom prst="ellipse">
            <a:avLst/>
          </a:prstGeom>
          <a:gradFill>
            <a:gsLst>
              <a:gs pos="99000">
                <a:schemeClr val="tx2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</p:spPr>
        <p:txBody>
          <a:bodyPr vert="horz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CBFBCF-1058-BD06-B7E2-2E55A48B9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209F34-530D-CDE1-CD15-A8698D02FA5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AE3E3E96-677A-4793-9C45-E4476EB1D088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790962D-06C1-3CFC-3777-BDED7944054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B0E837-3024-07AB-C0E4-75AE372AF1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40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 solar">
    <p:bg bwMode="ltGray"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2B318-F283-2A13-583D-34FE9F6B6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6605"/>
            <a:ext cx="11201401" cy="83378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F9F0EA4-9C11-6796-B60E-38CC6E0A2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76548"/>
            <a:ext cx="2115353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BB7521D-2B30-EF6E-4E34-5A4D13F139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9696"/>
            <a:ext cx="2115353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lang="en-ZA" b="0" i="0" u="none" strike="noStrike" smtClean="0">
                <a:effectLst/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A8DE2ED-DBE7-A4E0-D02A-184D497FD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4483" y="1876548"/>
            <a:ext cx="2108785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E654AD-F529-8098-9288-B3BC5CF9EB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4483" y="2519696"/>
            <a:ext cx="2108785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A01C05-EB16-96E0-CB56-9A050932A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998" y="1876548"/>
            <a:ext cx="2102217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A191453-51BB-F2FA-9B96-09764EE4E3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998" y="2519696"/>
            <a:ext cx="2102217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030565E-EC74-E8D4-FA27-5C4180F5BE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4944" y="1876548"/>
            <a:ext cx="2102219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40F1423-1CAD-B044-B1D4-D305E7CDB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4944" y="2519696"/>
            <a:ext cx="2102219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27F6E91-1279-FCB2-1DC4-CF7E6A682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893" y="1876548"/>
            <a:ext cx="2102220" cy="486833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C0BF6C9-7542-1259-01A8-3A4608E752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6893" y="2519696"/>
            <a:ext cx="2102220" cy="1322976"/>
          </a:xfrm>
          <a:prstGeom prst="rect">
            <a:avLst/>
          </a:prstGeom>
        </p:spPr>
        <p:txBody>
          <a:bodyPr vert="horz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6DBEE8A-D32D-7F6C-4A66-A6E5C985A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06459"/>
            <a:ext cx="12192000" cy="2199861"/>
          </a:xfrm>
          <a:prstGeom prst="rect">
            <a:avLst/>
          </a:prstGeom>
        </p:spPr>
      </p:pic>
      <p:pic>
        <p:nvPicPr>
          <p:cNvPr id="8" name="Picture 7" descr="A picture containing device&#10;&#10;Description automatically generated">
            <a:extLst>
              <a:ext uri="{FF2B5EF4-FFF2-40B4-BE49-F238E27FC236}">
                <a16:creationId xmlns:a16="http://schemas.microsoft.com/office/drawing/2014/main" id="{A2437B87-35D2-DB25-6380-7DECE869E9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11106"/>
            <a:ext cx="12192000" cy="1537252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1A4CE3-A382-B312-22DB-9CEA41730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18962-C158-8A86-B8FF-DC2CC933A86D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EA72AEBC-D261-4D68-8A77-3060F06D1300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8BB1360-EC5B-42A3-B042-AE778BAB5ED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C8B555-8A7B-8A34-3B1E-CF7913D44D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74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1" y="0"/>
            <a:ext cx="35433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2022" y="3037295"/>
            <a:ext cx="3543300" cy="11505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0829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29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8294" y="1579241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8294" y="1889208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022" y="1461049"/>
            <a:ext cx="3543300" cy="146583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Today’s</a:t>
            </a:r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C2AE20-AEB6-8B03-7DCF-535B87E65D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3427" y="469701"/>
            <a:ext cx="7468445" cy="63076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dirty="0"/>
              <a:t>Click to edit Heading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54C86CE-629D-346E-54A5-2945D08253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3427" y="1466647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D21A050-29AF-83A2-3F07-2F1008AD48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0892" y="1463349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19" name="Picture 18" descr="A picture containing icon&#10;&#10;Description automatically generated">
            <a:extLst>
              <a:ext uri="{FF2B5EF4-FFF2-40B4-BE49-F238E27FC236}">
                <a16:creationId xmlns:a16="http://schemas.microsoft.com/office/drawing/2014/main" id="{897AAA94-9C3F-E864-5505-616F8D61C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8526"/>
            <a:ext cx="12192000" cy="2199861"/>
          </a:xfrm>
          <a:prstGeom prst="rect">
            <a:avLst/>
          </a:prstGeom>
        </p:spPr>
      </p:pic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7D8330D-2FFE-ABA8-B03B-53788C0AB5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63173"/>
            <a:ext cx="12192000" cy="1537252"/>
          </a:xfrm>
          <a:prstGeom prst="rect">
            <a:avLst/>
          </a:prstGeom>
        </p:spPr>
      </p:pic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0DFB0B7-B1C0-6454-D75C-6DEB1B7091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10829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76B903-0A56-C02C-1809-877FEC86F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0829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B438C97-5166-D0D0-91A9-D5132A704E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8294" y="3145368"/>
            <a:ext cx="2811276" cy="28363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Insert Heading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06BC8EE-0D99-B1BA-D5DC-DD745D77C2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68294" y="3455334"/>
            <a:ext cx="2811276" cy="5328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AC7739C-3175-F4CE-9846-8E401CC9F7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427" y="3032774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0CD6ECF-6757-1280-EA64-C463D347F3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90892" y="3029475"/>
            <a:ext cx="513347" cy="5174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8C35922-DB58-7397-4CCE-4AEC76EF5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2BCE9C-4DE0-6003-09C3-68DFCEBA67A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599B10B5-F466-4368-9152-132DF5AA1AA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D647E-090F-7735-AA10-D21B492C516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09F6A2-415B-7C3F-D9EA-62AC9521F8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urora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9000">
                <a:schemeClr val="bg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44F584-F8DF-4133-D15A-C6248AFEC532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DF7AF7CF-F5CD-40E9-BB48-FCA5BADDF6B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18D5958-75DC-A88B-E056-813D8971226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63F82F-CDD7-77DD-F970-FDD5CC70E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43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solar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1" y="0"/>
            <a:ext cx="374113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4000">
                <a:schemeClr val="bg2"/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947112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812867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70595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50526" y="824539"/>
            <a:ext cx="463364" cy="7109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0526" y="2676765"/>
            <a:ext cx="463364" cy="73799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50526" y="4514377"/>
            <a:ext cx="463364" cy="778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D2C6623-B1A1-CBE6-7D56-C985C857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680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9CA7937-B3C2-A7D4-4FBD-41B8005F9A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2680" y="2560774"/>
            <a:ext cx="2469040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65CEA7-0C01-109B-B60E-AF24D38589D8}"/>
              </a:ext>
            </a:extLst>
          </p:cNvPr>
          <p:cNvSpPr txBox="1">
            <a:spLocks/>
          </p:cNvSpPr>
          <p:nvPr userDrawn="1"/>
        </p:nvSpPr>
        <p:spPr>
          <a:xfrm>
            <a:off x="3751848" y="6358387"/>
            <a:ext cx="3741139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F9FE529-593A-415C-949C-CEA75F446672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D72F262-A5CE-9603-951D-A010B8A53AD3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594F56-91BF-894F-09E5-BB716D81F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09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B8EA15-52E5-1F00-9DAD-86C3E3B033A4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E43174-3AA1-B066-1E68-790DAF2BFE44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1D653FF-4C82-9953-4B35-EE145BE30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39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3736630" y="0"/>
            <a:ext cx="845536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95000">
                <a:schemeClr val="accent4"/>
              </a:gs>
              <a:gs pos="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415BBD-F76F-81BF-68BE-F2C1057C71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23739F7E-AC85-406E-B9BF-F2EFBB13921D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625B25-F162-BF73-1F60-40166C74421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1F4734-E3A6-8C9A-D6C3-CA722AD39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5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2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5FA2283-3783-6918-8ABF-02F2D7F2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596" y="457200"/>
            <a:ext cx="7391004" cy="724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7897425C-E7C6-EF26-2267-981B3ED352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7199" y="1341966"/>
            <a:ext cx="7391583" cy="46589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C81F2A-A74D-2987-0689-D4C64A66FE0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2AAFDBE-4E02-4C48-B692-126AD9514796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</a:t>
            </a:r>
            <a:r>
              <a:rPr lang="en-US" sz="700" b="0" dirty="0" err="1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Restrictedl</a:t>
            </a:r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87D0159-5DE9-A431-5BEF-90232321964F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40CB5-1B9E-0B5A-DBAB-7970538FC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56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8229600" y="0"/>
            <a:ext cx="3962400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1F1277-26F4-CC9B-EB47-4D21D2A9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B33F1DB-5058-BC67-65C1-AE1D7F987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C40B215-889F-FBA8-7150-3F50A7D8BDD5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E1A97E-F25D-6473-432A-128EBF9C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D41-CEA8-D301-B719-0585C7EEE0C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71220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B96B9-71B5-B536-42AA-693AE6BE70B3}"/>
              </a:ext>
            </a:extLst>
          </p:cNvPr>
          <p:cNvSpPr/>
          <p:nvPr userDrawn="1"/>
        </p:nvSpPr>
        <p:spPr>
          <a:xfrm>
            <a:off x="8229600" y="0"/>
            <a:ext cx="3962399" cy="689168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3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BABBC4-3489-D976-6E61-F322903E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4C09AA-B7F9-4D66-7B42-9DC887E3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7588F6-C97C-F7A0-AA91-FF0964703841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3CDA8A-8AC0-3419-02C9-3D1338E7E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C4F4D6-4F06-CF42-5692-77B64E8D9D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9500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3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82341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8C89493-E0C4-2A21-1144-6E48D6AA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559" y="740785"/>
            <a:ext cx="2945041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78B3F8-E34A-04D6-F441-B49D850C4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13559" y="2349851"/>
            <a:ext cx="2945041" cy="37976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A962C6-E258-4D00-B266-EB226D2891AD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C4878B-F6C2-B27A-A785-95D1E41189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188E1-CD1E-8CD5-858D-1CFD843ADD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98C791-1943-05BB-1FF0-75744C39D2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107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3041744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2"/>
              </a:gs>
              <a:gs pos="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B3F71A1-43B6-5C1A-4CBC-C0832E393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9249A8EA-3F43-AF11-7B20-580B3EF140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23762-6450-DA1D-8CCC-A6022BD00CD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13C657-D3A3-7731-94BE-B0E43928B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607E28-0693-319C-CB49-E6DEE86025BD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3534442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D2660-B6BC-E8B4-C572-1B2CB8831441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/>
              </a:gs>
              <a:gs pos="5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14597B1-FFFF-8847-2359-01B82ED35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CB555E74-8201-C10D-0D6F-5D53C85E98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73EA5CF-2BCE-6ED0-1E45-DF867757321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D7D7AA-85D5-50E9-A12C-ADF713F60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BB8B3-729C-5F44-B107-EDCB334C1335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950198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1/2 Vertical R with photo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5795708" cy="6858000"/>
          </a:xfrm>
          <a:prstGeom prst="rect">
            <a:avLst/>
          </a:prstGeom>
          <a:solidFill>
            <a:schemeClr val="tx1"/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en-U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B33E6B-2365-80ED-C0C4-B2FE131BD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4835" y="457200"/>
            <a:ext cx="5333765" cy="1176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1E0CF8C2-FFF2-E18F-A12A-5C08DE5932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9" y="1768282"/>
            <a:ext cx="5334183" cy="2199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8B4A1-6616-00A3-638F-015267BE9B07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286645-F2C5-42F7-1710-136ABCA64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29F7-460C-7693-0A6B-ADDFDEA43AAF}"/>
              </a:ext>
            </a:extLst>
          </p:cNvPr>
          <p:cNvSpPr txBox="1">
            <a:spLocks/>
          </p:cNvSpPr>
          <p:nvPr userDrawn="1"/>
        </p:nvSpPr>
        <p:spPr>
          <a:xfrm>
            <a:off x="5159896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6552B42-FF9A-4B4E-8ACB-BC00EA5C032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235123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1229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BBE11B-F081-29AE-A18F-EFE2A43521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586363"/>
            <a:ext cx="11201588" cy="381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altLang="ja-JP" dirty="0"/>
              <a:t>Chart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93E35D-6623-69CE-8CA1-55F2039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257D134A-1BB6-0635-B3CB-F98D0BFE8E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08834"/>
            <a:ext cx="11201588" cy="40633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0288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598456"/>
            <a:ext cx="5486399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0672FB-FE69-1CCA-A1F1-FF4A9F39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0809630D-F471-4BBB-6E9E-088BC38D5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0139" y="1598456"/>
            <a:ext cx="5486400" cy="44024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56768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rora Banner Three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AB483A01-7E57-CFAC-1C71-404801E226DC}"/>
              </a:ext>
            </a:extLst>
          </p:cNvPr>
          <p:cNvSpPr/>
          <p:nvPr userDrawn="1"/>
        </p:nvSpPr>
        <p:spPr>
          <a:xfrm>
            <a:off x="8191108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659CED-376E-71E9-2699-6AAC99DCD34B}"/>
              </a:ext>
            </a:extLst>
          </p:cNvPr>
          <p:cNvSpPr/>
          <p:nvPr userDrawn="1"/>
        </p:nvSpPr>
        <p:spPr>
          <a:xfrm>
            <a:off x="446184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E9A2C-1854-B75C-6F67-39DB3DDCDE99}"/>
              </a:ext>
            </a:extLst>
          </p:cNvPr>
          <p:cNvSpPr/>
          <p:nvPr userDrawn="1"/>
        </p:nvSpPr>
        <p:spPr>
          <a:xfrm>
            <a:off x="744920" y="3812426"/>
            <a:ext cx="574177" cy="574177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US" sz="2133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684" y="4523519"/>
            <a:ext cx="3466156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552" y="1331572"/>
            <a:ext cx="6104047" cy="22510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E871675-F55E-415E-D2CE-EA2C8921321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44920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104EBF8D-6387-AF8C-EE80-9B0DAEE9A0CC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822960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A0E565E7-C8ED-23C6-D849-A8EF8B8FBE3C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4487260" y="4523519"/>
            <a:ext cx="3305919" cy="14566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0">
            <a:extLst>
              <a:ext uri="{FF2B5EF4-FFF2-40B4-BE49-F238E27FC236}">
                <a16:creationId xmlns:a16="http://schemas.microsoft.com/office/drawing/2014/main" id="{5678B089-C19E-5786-E658-4A3C3D7AC01A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457200" y="1331571"/>
            <a:ext cx="5097352" cy="2251096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</a:gradFill>
        </p:spPr>
        <p:txBody>
          <a:bodyPr anchor="ctr"/>
          <a:lstStyle>
            <a:lvl1pPr marL="239178" indent="0"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39178" indent="0">
              <a:buNone/>
              <a:tabLst/>
              <a:defRPr sz="1867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DB2B160-0C6D-8543-D57F-3A49B7036EDC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473052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CDF0677-C4FE-9DCE-772C-68D97A47244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91108" y="3812426"/>
            <a:ext cx="575313" cy="57417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667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BCC7-C215-DA6B-868F-571167D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44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56340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Four Content R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8FE1146-00D9-2E9D-3C1B-2D57C747A3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3868252"/>
            <a:ext cx="4952997" cy="299999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A0173-42CE-1093-0617-F92C66741761}"/>
              </a:ext>
            </a:extLst>
          </p:cNvPr>
          <p:cNvSpPr/>
          <p:nvPr userDrawn="1"/>
        </p:nvSpPr>
        <p:spPr>
          <a:xfrm>
            <a:off x="4953000" y="1"/>
            <a:ext cx="7239001" cy="6868248"/>
          </a:xfrm>
          <a:prstGeom prst="rect">
            <a:avLst/>
          </a:prstGeom>
          <a:gradFill flip="none" rotWithShape="1">
            <a:gsLst>
              <a:gs pos="100000">
                <a:schemeClr val="tx2"/>
              </a:gs>
              <a:gs pos="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C086F6-18CD-E4D9-FDFE-07F5A47A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488" y="457200"/>
            <a:ext cx="4228030" cy="11106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6" name="Content Placeholder 20">
            <a:extLst>
              <a:ext uri="{FF2B5EF4-FFF2-40B4-BE49-F238E27FC236}">
                <a16:creationId xmlns:a16="http://schemas.microsoft.com/office/drawing/2014/main" id="{60A0D598-4F30-860D-B164-86E542C361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717583"/>
            <a:ext cx="4228361" cy="17532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468F35-3C59-6952-677B-91EE28176769}"/>
              </a:ext>
            </a:extLst>
          </p:cNvPr>
          <p:cNvGrpSpPr/>
          <p:nvPr userDrawn="1"/>
        </p:nvGrpSpPr>
        <p:grpSpPr>
          <a:xfrm>
            <a:off x="8588153" y="342585"/>
            <a:ext cx="161856" cy="6015799"/>
            <a:chOff x="6748423" y="256938"/>
            <a:chExt cx="0" cy="46097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9B5F95-C554-67FD-B130-6A8618D97D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14B44A-B9A2-0DF8-54BE-C2F6BE7311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946AA4-CDE8-9BEB-6151-6A8AB355B3E6}"/>
              </a:ext>
            </a:extLst>
          </p:cNvPr>
          <p:cNvGrpSpPr/>
          <p:nvPr userDrawn="1"/>
        </p:nvGrpSpPr>
        <p:grpSpPr>
          <a:xfrm rot="5400000">
            <a:off x="8588153" y="360935"/>
            <a:ext cx="0" cy="6146381"/>
            <a:chOff x="6748423" y="256938"/>
            <a:chExt cx="0" cy="46097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32B3C3-D068-2F0F-9637-744E670734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735643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C72096-0A4A-3731-1C6F-E0F903D31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48423" y="256938"/>
              <a:ext cx="0" cy="213108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0">
            <a:extLst>
              <a:ext uri="{FF2B5EF4-FFF2-40B4-BE49-F238E27FC236}">
                <a16:creationId xmlns:a16="http://schemas.microsoft.com/office/drawing/2014/main" id="{8D539774-FE16-CA2B-882C-E2D3113646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4962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95378D7F-17CD-74B7-B68D-734E0CE1CB7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61620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2" name="Content Placeholder 20">
            <a:extLst>
              <a:ext uri="{FF2B5EF4-FFF2-40B4-BE49-F238E27FC236}">
                <a16:creationId xmlns:a16="http://schemas.microsoft.com/office/drawing/2014/main" id="{856B6660-D8E6-B644-ABED-70772559F50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8855637" y="1727403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77598910-7082-DB63-9C9D-3F308477610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802294" y="593437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4" name="Content Placeholder 20">
            <a:extLst>
              <a:ext uri="{FF2B5EF4-FFF2-40B4-BE49-F238E27FC236}">
                <a16:creationId xmlns:a16="http://schemas.microsoft.com/office/drawing/2014/main" id="{B243BB10-A639-6C24-849B-D234C691224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5514962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20F2428-B792-2CA0-7F60-B98B438E382B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461620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36" name="Content Placeholder 20">
            <a:extLst>
              <a:ext uri="{FF2B5EF4-FFF2-40B4-BE49-F238E27FC236}">
                <a16:creationId xmlns:a16="http://schemas.microsoft.com/office/drawing/2014/main" id="{CB16E9E0-B37D-1BD2-E751-4F8172370FBA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>
            <a:off x="8855637" y="4881202"/>
            <a:ext cx="2801777" cy="145662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20648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461422" indent="0" algn="ctr">
              <a:buNone/>
              <a:defRPr sz="1867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82709724-47A5-8847-ED27-B22AD83EB90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802294" y="3747236"/>
            <a:ext cx="816640" cy="8150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64A120D-DD0B-E804-27A7-D87F7A51E32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B0979D-E461-0754-22CE-7DDD212A7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E4E1-5CEE-6358-749D-7B00CBEE7DF5}"/>
              </a:ext>
            </a:extLst>
          </p:cNvPr>
          <p:cNvSpPr txBox="1">
            <a:spLocks/>
          </p:cNvSpPr>
          <p:nvPr userDrawn="1"/>
        </p:nvSpPr>
        <p:spPr>
          <a:xfrm>
            <a:off x="4213448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148400526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93532-71D0-D05E-6EE7-F2E82D104578}"/>
              </a:ext>
            </a:extLst>
          </p:cNvPr>
          <p:cNvGrpSpPr/>
          <p:nvPr userDrawn="1"/>
        </p:nvGrpSpPr>
        <p:grpSpPr>
          <a:xfrm>
            <a:off x="0" y="4438650"/>
            <a:ext cx="3902176" cy="2419350"/>
            <a:chOff x="0" y="3874168"/>
            <a:chExt cx="4812632" cy="2983832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730A7B0A-F79F-93B1-9BB9-47E04ECD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r="10526" b="24873"/>
            <a:stretch/>
          </p:blipFill>
          <p:spPr>
            <a:xfrm>
              <a:off x="0" y="5205317"/>
              <a:ext cx="4812632" cy="1652683"/>
            </a:xfrm>
            <a:prstGeom prst="rect">
              <a:avLst/>
            </a:prstGeom>
          </p:spPr>
        </p:pic>
        <p:pic>
          <p:nvPicPr>
            <p:cNvPr id="4" name="Graphic 4">
              <a:extLst>
                <a:ext uri="{FF2B5EF4-FFF2-40B4-BE49-F238E27FC236}">
                  <a16:creationId xmlns:a16="http://schemas.microsoft.com/office/drawing/2014/main" id="{556EA8C8-B054-949F-4116-CED566BE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375" t="17544" r="29934" b="38948"/>
            <a:stretch/>
          </p:blipFill>
          <p:spPr>
            <a:xfrm>
              <a:off x="0" y="3874168"/>
              <a:ext cx="3741822" cy="2983832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30AE8CE-28F6-38EA-5BF8-DC81ABF0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AADF01-D003-B82E-57AA-B2A2404F0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  <p:sp>
        <p:nvSpPr>
          <p:cNvPr id="9" name="Content Placeholder 20">
            <a:extLst>
              <a:ext uri="{FF2B5EF4-FFF2-40B4-BE49-F238E27FC236}">
                <a16:creationId xmlns:a16="http://schemas.microsoft.com/office/drawing/2014/main" id="{0CBF9A6C-69D1-9665-B19D-FC6E05A17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6359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 Logo Lin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9CE2CC-969C-02B6-4879-786B318E4C8C}"/>
              </a:ext>
            </a:extLst>
          </p:cNvPr>
          <p:cNvGrpSpPr/>
          <p:nvPr userDrawn="1"/>
        </p:nvGrpSpPr>
        <p:grpSpPr>
          <a:xfrm>
            <a:off x="9042400" y="0"/>
            <a:ext cx="3149600" cy="1498600"/>
            <a:chOff x="6781800" y="3747544"/>
            <a:chExt cx="2362200" cy="1123950"/>
          </a:xfrm>
        </p:grpSpPr>
        <p:pic>
          <p:nvPicPr>
            <p:cNvPr id="3" name="Picture 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AAFA0D7-EDAD-407E-9C3A-ACDE027BF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000" t="38103"/>
            <a:stretch/>
          </p:blipFill>
          <p:spPr>
            <a:xfrm>
              <a:off x="6858000" y="3747544"/>
              <a:ext cx="2286000" cy="1021246"/>
            </a:xfrm>
            <a:prstGeom prst="rect">
              <a:avLst/>
            </a:prstGeom>
          </p:spPr>
        </p:pic>
        <p:pic>
          <p:nvPicPr>
            <p:cNvPr id="4" name="Picture 3" descr="A picture containing device&#10;&#10;Description automatically generated">
              <a:extLst>
                <a:ext uri="{FF2B5EF4-FFF2-40B4-BE49-F238E27FC236}">
                  <a16:creationId xmlns:a16="http://schemas.microsoft.com/office/drawing/2014/main" id="{2181FD1D-8A13-107C-7CF7-146150C00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4167" t="21698" b="-19184"/>
            <a:stretch/>
          </p:blipFill>
          <p:spPr>
            <a:xfrm>
              <a:off x="6781800" y="3747544"/>
              <a:ext cx="2362200" cy="1123950"/>
            </a:xfrm>
            <a:prstGeom prst="rect">
              <a:avLst/>
            </a:prstGeom>
          </p:spPr>
        </p:pic>
      </p:grp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8BEFFA6A-B275-BB4C-2BAC-AEB5E6C60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2026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ED6EFC-5F2B-F024-4055-4DAD7A2E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60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8944C73-F4C0-8780-0A90-8DB53F922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012" y="1063892"/>
            <a:ext cx="11201588" cy="381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en-US" dirty="0"/>
              <a:t>Click to add Sub-title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660058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cov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86E79-9219-F17B-3C70-41B15AE518FB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F4B3D787-7334-4982-80B7-C944E69A29D5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815DE0C-5A28-56AF-3943-38EED1379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14972AC-7882-F4C6-71D6-47442D58E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1D190-8EF7-2DC1-1C48-7AD61E99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5D698D0-3997-AFDF-8B57-7A5E9687D1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pic>
        <p:nvPicPr>
          <p:cNvPr id="4" name="Picture 3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44E9AC7C-EA8A-DB28-854D-B963D059F4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BB439F9-A6E1-0F4D-C2DE-0021CA8DDD6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5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FA260-42A7-FF03-B0A9-5106CA344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19068"/>
            <a:ext cx="12192000" cy="2199861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0F65EED-1110-732F-1B11-95551A451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1691" y="203709"/>
            <a:ext cx="3289300" cy="12071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6D5-DA76-9057-8F38-600063C35CD1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6318BCB0-7DB8-434B-8E73-01EB242A1F8F}" type="datetimeyyyy">
              <a:rPr lang="en-US" sz="700" b="0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3DE9AE13-4D32-4551-39E8-4FB29B135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3420F3A-1D8C-4A97-7690-AA5AC1E2E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8" name="Picture 17" descr="A picture containing connector, cable&#10;&#10;Description automatically generated">
            <a:extLst>
              <a:ext uri="{FF2B5EF4-FFF2-40B4-BE49-F238E27FC236}">
                <a16:creationId xmlns:a16="http://schemas.microsoft.com/office/drawing/2014/main" id="{A09988E2-C227-9B42-2310-2FA7BCE544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307"/>
            <a:ext cx="12192000" cy="3498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3BE3448-BCC2-D46A-15EB-E157DC9190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807294"/>
            <a:ext cx="2109041" cy="2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52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">
    <p:bg>
      <p:bgPr>
        <a:gradFill flip="none" rotWithShape="1">
          <a:gsLst>
            <a:gs pos="0">
              <a:schemeClr val="accent4"/>
            </a:gs>
            <a:gs pos="100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1"/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 altLang="ja-JP" dirty="0"/>
              <a:t>Click icon to add picture. Send your image to the back for logo to display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DC08F90-D086-622F-9346-FA7E66730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3870006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</a:t>
            </a:r>
            <a:br>
              <a:rPr lang="en-US" altLang="ja-JP" dirty="0"/>
            </a:br>
            <a:r>
              <a:rPr lang="en-US" altLang="ja-JP" dirty="0"/>
              <a:t>Master title style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A07DD5-7476-E78E-877E-5A83444D0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5476402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0F11-B5D8-3385-35F7-66E750CB7A97}"/>
              </a:ext>
            </a:extLst>
          </p:cNvPr>
          <p:cNvSpPr txBox="1">
            <a:spLocks/>
          </p:cNvSpPr>
          <p:nvPr userDrawn="1"/>
        </p:nvSpPr>
        <p:spPr>
          <a:xfrm>
            <a:off x="7183073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1F040318-8979-4952-A618-4BC676CB252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</p:spTree>
    <p:extLst>
      <p:ext uri="{BB962C8B-B14F-4D97-AF65-F5344CB8AC3E}">
        <p14:creationId xmlns:p14="http://schemas.microsoft.com/office/powerpoint/2010/main" val="366944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divider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6647BFCF-3982-CCAA-7A02-3B65204B9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3404243-D446-89D8-2EE0-CCCD9B4F8B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9DC505A-2D26-1889-C779-148711CE9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CCF9DBF-C7CC-D860-1ABE-732E6CBB5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7C5DE94C-99BC-4FD5-A5C6-7E6A23D3827C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66B712B-8A22-B5D2-8583-67B6CD410219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DC6CAB-D34C-D60A-CC7D-6395237BF6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0508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divider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67CCE83A-7C05-0BA3-56E8-C8A7126C1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39" y="2394152"/>
            <a:ext cx="6795051" cy="152709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ja-JP" dirty="0"/>
              <a:t>Click to edit Divider</a:t>
            </a:r>
            <a:endParaRPr lang="en-GB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D5F945-9526-50AB-F03C-81AA1D0392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538" y="4000547"/>
            <a:ext cx="6795052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13BDA52-EACA-ED5B-66AA-1FFC72110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6226983"/>
            <a:ext cx="1494932" cy="54863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6DC12-D48C-AF29-5BD9-B74421C476B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D22CE56-B61F-45E9-B14C-06C73452CB93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78589B3-FC19-2190-2267-26D80CC8775E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FD41A6F-C63C-8531-0E7F-25589016F8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9510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rora End Slide">
    <p:bg>
      <p:bgPr>
        <a:gradFill flip="none" rotWithShape="1">
          <a:gsLst>
            <a:gs pos="100000">
              <a:schemeClr val="tx2"/>
            </a:gs>
            <a:gs pos="4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2" y="4647501"/>
            <a:ext cx="12186448" cy="15365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9F6752F-C195-900B-743A-3C3A7BB56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3BE18-10C1-079A-6620-B10DA868A4D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9DBFA95E-50DC-4369-B56A-7D93EAE84222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F2FD328-F5A7-CB79-A733-047A8B713FD0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5B43A2-27E6-695E-7478-295E22540D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6950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ar End Slide">
    <p:bg>
      <p:bgPr>
        <a:gradFill>
          <a:gsLst>
            <a:gs pos="0">
              <a:schemeClr val="accent4"/>
            </a:gs>
            <a:gs pos="100000">
              <a:schemeClr val="tx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54C71BA1-83D3-4827-C9A8-87C450A0F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039887"/>
            <a:ext cx="12192000" cy="2199861"/>
          </a:xfrm>
          <a:prstGeom prst="rect">
            <a:avLst/>
          </a:prstGeom>
        </p:spPr>
      </p:pic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2BD5F353-B683-50F6-D59B-CA9DB696DA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48201"/>
            <a:ext cx="12180896" cy="1535852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D76C8DB-10B9-4AF5-08BB-850195E11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456" y="1844499"/>
            <a:ext cx="7219089" cy="264940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1C954-49F8-9DF5-8795-A8BED44ABA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259C16A-6D70-46F6-BB13-4DDF4D227DE7}" type="datetimeyyyy">
              <a:rPr lang="en-US" sz="700" b="0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29E5CDE-09F2-3636-868D-56683312295A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D62FCC-CAB2-0F2C-5800-59A75EF438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86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94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96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7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118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24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5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6.xml"/><Relationship Id="rId31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7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1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2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792" r:id="rId33"/>
  </p:sldLayoutIdLst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3" pos="7344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pos="27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3" pos="7344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pos="27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&lt;Highly Confidential&gt;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3" pos="7344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pos="27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26BE242-0575-F94A-02EB-F9906DCF99A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3868" y="6226983"/>
            <a:ext cx="1494932" cy="54863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E813AAD-BDF4-F4B5-7EFE-A4598EC4923E}"/>
              </a:ext>
            </a:extLst>
          </p:cNvPr>
          <p:cNvSpPr txBox="1">
            <a:spLocks/>
          </p:cNvSpPr>
          <p:nvPr/>
        </p:nvSpPr>
        <p:spPr>
          <a:xfrm>
            <a:off x="4038600" y="6358387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</a:t>
            </a:r>
            <a:fld id="{C691D375-04E8-4F9A-8ABB-2AAB9EE5542A}" type="datetimeyyyy">
              <a:rPr lang="en-US" sz="700" b="0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t>2026</a:t>
            </a:fld>
            <a:r>
              <a:rPr lang="en-US" sz="700" b="0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Avanade Inc. All Rights Reserved. &lt;Restricted&gt;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1699C-202F-DB48-D114-D2C5794C74BF}"/>
              </a:ext>
            </a:extLst>
          </p:cNvPr>
          <p:cNvSpPr txBox="1">
            <a:spLocks/>
          </p:cNvSpPr>
          <p:nvPr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847DB54-D037-B84F-B6F1-2E8DA40D09AD}" type="slidenum">
              <a:rPr lang="en-US" sz="700" b="1" smtClean="0"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/>
              <a:t>‹#›</a:t>
            </a:fld>
            <a:endParaRPr lang="en-US" sz="7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2B2890-FD5D-43D2-72F8-3E6AB1A4A78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34625" y="6429315"/>
            <a:ext cx="1694769" cy="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8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hdr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3" pos="7344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pos="27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3206-47F8-638F-D16B-E8BE69BD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Executive Summary
Why This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DAE76-44D7-33DC-50E6-9D23DE4B0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CoreEx scaffolding gives deterministic, repeatable delivery foundations.</a:t>
            </a:r>
          </a:p>
          <a:p>
            <a:r>
              <a:rPr lang="en-US">
                <a:solidFill>
                  <a:srgbClr val="000000"/>
                </a:solidFill>
              </a:rPr>
              <a:t>• Agentic prompting adds speed and flexibility for domain-specific requirements.</a:t>
            </a:r>
          </a:p>
          <a:p>
            <a:r>
              <a:rPr lang="en-US">
                <a:solidFill>
                  <a:srgbClr val="000000"/>
                </a:solidFill>
              </a:rPr>
              <a:t>• Teams move faster with less architecture and boilerplate friction.</a:t>
            </a:r>
          </a:p>
        </p:txBody>
      </p:sp>
    </p:spTree>
    <p:extLst>
      <p:ext uri="{BB962C8B-B14F-4D97-AF65-F5344CB8AC3E}">
        <p14:creationId xmlns:p14="http://schemas.microsoft.com/office/powerpoint/2010/main" val="75409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E1F-CB8E-BC50-4EB3-B13E6F32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Business Value
Impact on Delivery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ECD14-7750-D6C2-E085-B6D293218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Faster time from idea to a buildable, reviewable solution baseline.</a:t>
            </a:r>
          </a:p>
          <a:p>
            <a:r>
              <a:rPr lang="en-US">
                <a:solidFill>
                  <a:srgbClr val="000000"/>
                </a:solidFill>
              </a:rPr>
              <a:t>• Consistent architecture and coding conventions across teams.</a:t>
            </a:r>
          </a:p>
          <a:p>
            <a:r>
              <a:rPr lang="en-US">
                <a:solidFill>
                  <a:srgbClr val="000000"/>
                </a:solidFill>
              </a:rPr>
              <a:t>• Less rework by reducing early structural and wiring defects.</a:t>
            </a:r>
          </a:p>
          <a:p>
            <a:r>
              <a:rPr lang="en-US">
                <a:solidFill>
                  <a:srgbClr val="000000"/>
                </a:solidFill>
              </a:rPr>
              <a:t>• Higher engineering focus on business features instead of plumbing.</a:t>
            </a:r>
          </a:p>
          <a:p>
            <a:r>
              <a:rPr lang="en-US">
                <a:solidFill>
                  <a:srgbClr val="000000"/>
                </a:solidFill>
              </a:rPr>
              <a:t>• Move fast early: discovery, prototyping, and proving value with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77522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BAB2-116A-EC30-675B-D2A892C2E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Deterministic Foundation + Agentic Speed
Balanced Delivery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82B43-C3B8-032E-DDD7-EA2017D94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Deterministic: templates, instructions, and skills enforce known-good structure.</a:t>
            </a:r>
          </a:p>
          <a:p>
            <a:r>
              <a:rPr lang="en-US">
                <a:solidFill>
                  <a:srgbClr val="000000"/>
                </a:solidFill>
              </a:rPr>
              <a:t>• Agentic: prompts tailor scaffolding to domains, features, and constraints.</a:t>
            </a:r>
          </a:p>
          <a:p>
            <a:r>
              <a:rPr lang="en-US">
                <a:solidFill>
                  <a:srgbClr val="000000"/>
                </a:solidFill>
              </a:rPr>
              <a:t>• Result: predictable governance with rapid customization.</a:t>
            </a:r>
          </a:p>
          <a:p>
            <a:r>
              <a:rPr lang="en-US">
                <a:solidFill>
                  <a:srgbClr val="000000"/>
                </a:solidFill>
              </a:rPr>
              <a:t>• Converge from experimentation to determinism for repeatability, compliance, and supportability.</a:t>
            </a:r>
          </a:p>
        </p:txBody>
      </p:sp>
    </p:spTree>
    <p:extLst>
      <p:ext uri="{BB962C8B-B14F-4D97-AF65-F5344CB8AC3E}">
        <p14:creationId xmlns:p14="http://schemas.microsoft.com/office/powerpoint/2010/main" val="305305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965B-C77F-0F52-37AB-83788F69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What Comes Out of the Box
CoreEx Opinionated Acceleration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8F511-B253-F3D4-D32F-19FF2D757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Modern architecture patterns: microservices, eventing, and DDD-aligned domains.</a:t>
            </a:r>
          </a:p>
          <a:p>
            <a:r>
              <a:rPr lang="en-US">
                <a:solidFill>
                  <a:srgbClr val="000000"/>
                </a:solidFill>
              </a:rPr>
              <a:t>• Enterprise capabilities ready to pull in as needed: validation, caching, outbox, observability.</a:t>
            </a:r>
          </a:p>
          <a:p>
            <a:r>
              <a:rPr lang="en-US">
                <a:solidFill>
                  <a:srgbClr val="000000"/>
                </a:solidFill>
              </a:rPr>
              <a:t>• Integrated hosting and API conventions reduce framework integration overhead.</a:t>
            </a:r>
          </a:p>
        </p:txBody>
      </p:sp>
    </p:spTree>
    <p:extLst>
      <p:ext uri="{BB962C8B-B14F-4D97-AF65-F5344CB8AC3E}">
        <p14:creationId xmlns:p14="http://schemas.microsoft.com/office/powerpoint/2010/main" val="114840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96C0-8C22-5B73-CD27-E3A4E9F9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Platform Flexibility
Enterprise Choice Without Chaos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5D624-7C76-4DC5-BE8B-61E3A8548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Supports multiple backend patterns and provider strategies.</a:t>
            </a:r>
          </a:p>
          <a:p>
            <a:r>
              <a:rPr lang="en-US">
                <a:solidFill>
                  <a:srgbClr val="000000"/>
                </a:solidFill>
              </a:rPr>
              <a:t>• Messaging approach is not locked to one broker.</a:t>
            </a:r>
          </a:p>
          <a:p>
            <a:r>
              <a:rPr lang="en-US">
                <a:solidFill>
                  <a:srgbClr val="000000"/>
                </a:solidFill>
              </a:rPr>
              <a:t>• Teams can select infrastructure choices while preserving a consistent architecture model.</a:t>
            </a:r>
          </a:p>
        </p:txBody>
      </p:sp>
    </p:spTree>
    <p:extLst>
      <p:ext uri="{BB962C8B-B14F-4D97-AF65-F5344CB8AC3E}">
        <p14:creationId xmlns:p14="http://schemas.microsoft.com/office/powerpoint/2010/main" val="2427764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7028-4B19-1011-DB98-08F1BB7C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Decision and Rollout
Recommended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5A18E-A935-C92A-BEC9-9E4790ADF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Adopt CoreEx agentic scaffolding as the default start for new services.</a:t>
            </a:r>
          </a:p>
          <a:p>
            <a:r>
              <a:rPr lang="en-US">
                <a:solidFill>
                  <a:srgbClr val="000000"/>
                </a:solidFill>
              </a:rPr>
              <a:t>• Run a phased rollout with KPI tracking on speed, consistency, and rework reduction.</a:t>
            </a:r>
          </a:p>
          <a:p>
            <a:r>
              <a:rPr lang="en-US">
                <a:solidFill>
                  <a:srgbClr val="000000"/>
                </a:solidFill>
              </a:rPr>
              <a:t>• Govern templates and instructions as platform assets.</a:t>
            </a:r>
          </a:p>
          <a:p>
            <a:r>
              <a:rPr lang="en-US">
                <a:solidFill>
                  <a:srgbClr val="000000"/>
                </a:solidFill>
              </a:rPr>
              <a:t>• Ensure the delivered solution remains maintainable and operable over time, including after team transition.</a:t>
            </a:r>
          </a:p>
        </p:txBody>
      </p:sp>
    </p:spTree>
    <p:extLst>
      <p:ext uri="{BB962C8B-B14F-4D97-AF65-F5344CB8AC3E}">
        <p14:creationId xmlns:p14="http://schemas.microsoft.com/office/powerpoint/2010/main" val="43221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9C05-EC87-E90D-9D8E-6D597415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Transition to Technical Deep Dive
Section 2: Full Technical Detail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277B3-2F32-B7DB-559C-E42F0E9D2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Detailed architecture, capability inventory, platform options, and roadmap.</a:t>
            </a:r>
          </a:p>
          <a:p>
            <a:r>
              <a:rPr lang="en-US">
                <a:solidFill>
                  <a:srgbClr val="000000"/>
                </a:solidFill>
              </a:rPr>
              <a:t>• Prompt, skill, and instruction workflow with enforcement guardrails.</a:t>
            </a:r>
          </a:p>
        </p:txBody>
      </p:sp>
    </p:spTree>
    <p:extLst>
      <p:ext uri="{BB962C8B-B14F-4D97-AF65-F5344CB8AC3E}">
        <p14:creationId xmlns:p14="http://schemas.microsoft.com/office/powerpoint/2010/main" val="380460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1CCC-5884-F68D-71A2-841E1B4D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Title
The New Agentic Way to Scaffold CoreEx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DC2A0-8E1B-7D0F-AB0A-154C2A9D6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Generate production-aligned CoreEx domain scaffolding faster.</a:t>
            </a:r>
          </a:p>
          <a:p>
            <a:r>
              <a:rPr lang="en-US">
                <a:solidFill>
                  <a:srgbClr val="000000"/>
                </a:solidFill>
              </a:rPr>
              <a:t>• Encode architecture and coding standards as reusable prompt and skill assets.</a:t>
            </a:r>
          </a:p>
          <a:p>
            <a:r>
              <a:rPr lang="en-US">
                <a:solidFill>
                  <a:srgbClr val="000000"/>
                </a:solidFill>
              </a:rPr>
              <a:t>• Keep generated output aligned to CoreEx patterns and sample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325502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C4CA-3C29-94C5-057F-9C0BE426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Why Change
Pain in the Previous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92FB9-096C-B9C3-2A6A-EFB50251E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Manual setup was slow and inconsistent across teams.</a:t>
            </a:r>
          </a:p>
          <a:p>
            <a:r>
              <a:rPr lang="en-US">
                <a:solidFill>
                  <a:srgbClr val="000000"/>
                </a:solidFill>
              </a:rPr>
              <a:t>• Architecture intent was scattered across tribal knowledge and sample code.</a:t>
            </a:r>
          </a:p>
          <a:p>
            <a:r>
              <a:rPr lang="en-US">
                <a:solidFill>
                  <a:srgbClr val="000000"/>
                </a:solidFill>
              </a:rPr>
              <a:t>• Early project output often drifted from CoreEx conventions.</a:t>
            </a:r>
          </a:p>
          <a:p>
            <a:r>
              <a:rPr lang="en-US">
                <a:solidFill>
                  <a:srgbClr val="000000"/>
                </a:solidFill>
              </a:rPr>
              <a:t>• Review cycles focused on fixing structure and wiring instead of business value.</a:t>
            </a:r>
          </a:p>
        </p:txBody>
      </p:sp>
    </p:spTree>
    <p:extLst>
      <p:ext uri="{BB962C8B-B14F-4D97-AF65-F5344CB8AC3E}">
        <p14:creationId xmlns:p14="http://schemas.microsoft.com/office/powerpoint/2010/main" val="260202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B557-CA95-CE8F-F5BB-FB312A8F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What Is New
Agentic Scaffolding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E282C-CC87-A428-7CEA-E29EA2F44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Prompt workflows define user intent capture and step sequencing.</a:t>
            </a:r>
          </a:p>
          <a:p>
            <a:r>
              <a:rPr lang="en-US">
                <a:solidFill>
                  <a:srgbClr val="000000"/>
                </a:solidFill>
              </a:rPr>
              <a:t>• Skills define capability packs with selection logic and generation strategy.</a:t>
            </a:r>
          </a:p>
          <a:p>
            <a:r>
              <a:rPr lang="en-US">
                <a:solidFill>
                  <a:srgbClr val="000000"/>
                </a:solidFill>
              </a:rPr>
              <a:t>• Instruction files enforce file-scope coding conventions.</a:t>
            </a:r>
          </a:p>
          <a:p>
            <a:r>
              <a:rPr lang="en-US">
                <a:solidFill>
                  <a:srgbClr val="000000"/>
                </a:solidFill>
              </a:rPr>
              <a:t>• Templates and scripts provide repeatable project materialization.</a:t>
            </a:r>
          </a:p>
          <a:p>
            <a:r>
              <a:rPr lang="en-US">
                <a:solidFill>
                  <a:srgbClr val="000000"/>
                </a:solidFill>
              </a:rPr>
              <a:t>• Sample implementations provide concrete behavioral and architectural examples.</a:t>
            </a:r>
          </a:p>
          <a:p>
            <a:r>
              <a:rPr lang="en-US">
                <a:solidFill>
                  <a:srgbClr val="000000"/>
                </a:solidFill>
              </a:rPr>
              <a:t>• CoreEx scaffolding introduces deterministic outputs, reducing non-deterministic variance from pure free-form agentic generation.</a:t>
            </a:r>
          </a:p>
        </p:txBody>
      </p:sp>
    </p:spTree>
    <p:extLst>
      <p:ext uri="{BB962C8B-B14F-4D97-AF65-F5344CB8AC3E}">
        <p14:creationId xmlns:p14="http://schemas.microsoft.com/office/powerpoint/2010/main" val="3905649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A487-5466-197A-CA11-88791231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Core Building Blocks
Assets in the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5F8A7-9078-D073-9DA9-DE91FD093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Bootstrap skill: coreex-project-bootstrap.</a:t>
            </a:r>
          </a:p>
          <a:p>
            <a:r>
              <a:rPr lang="en-US">
                <a:solidFill>
                  <a:srgbClr val="000000"/>
                </a:solidFill>
              </a:rPr>
              <a:t>• Domain generation prompts: generate-domain, scaffold-domain-from-templates.</a:t>
            </a:r>
          </a:p>
          <a:p>
            <a:r>
              <a:rPr lang="en-US">
                <a:solidFill>
                  <a:srgbClr val="000000"/>
                </a:solidFill>
              </a:rPr>
              <a:t>• Environment and startup prompts: init, setup.</a:t>
            </a:r>
          </a:p>
          <a:p>
            <a:r>
              <a:rPr lang="en-US">
                <a:solidFill>
                  <a:srgbClr val="000000"/>
                </a:solidFill>
              </a:rPr>
              <a:t>• File-scoped instructions for controllers, services, repositories, validators, tests, and host setup.</a:t>
            </a:r>
          </a:p>
          <a:p>
            <a:r>
              <a:rPr lang="en-US">
                <a:solidFill>
                  <a:srgbClr val="000000"/>
                </a:solidFill>
              </a:rPr>
              <a:t>• Starter docs for architecture, conventions, and domains.</a:t>
            </a:r>
          </a:p>
        </p:txBody>
      </p:sp>
    </p:spTree>
    <p:extLst>
      <p:ext uri="{BB962C8B-B14F-4D97-AF65-F5344CB8AC3E}">
        <p14:creationId xmlns:p14="http://schemas.microsoft.com/office/powerpoint/2010/main" val="92250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F0D4-A2F2-B36F-CB0B-8B467DFC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Operating Model
Human + Agent Collaboration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7546-8B8B-F192-5362-02E9AA848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Human provides bounded context and domain intent.</a:t>
            </a:r>
          </a:p>
          <a:p>
            <a:r>
              <a:rPr lang="en-US">
                <a:solidFill>
                  <a:srgbClr val="000000"/>
                </a:solidFill>
              </a:rPr>
              <a:t>• Agent asks only minimal clarification questions for critical decisions.</a:t>
            </a:r>
          </a:p>
          <a:p>
            <a:r>
              <a:rPr lang="en-US">
                <a:solidFill>
                  <a:srgbClr val="000000"/>
                </a:solidFill>
              </a:rPr>
              <a:t>• Agent scaffolds layered projects and hosts.</a:t>
            </a:r>
          </a:p>
          <a:p>
            <a:r>
              <a:rPr lang="en-US">
                <a:solidFill>
                  <a:srgbClr val="000000"/>
                </a:solidFill>
              </a:rPr>
              <a:t>• Agent validates quality gates and resolves diagnostics.</a:t>
            </a:r>
          </a:p>
          <a:p>
            <a:r>
              <a:rPr lang="en-US">
                <a:solidFill>
                  <a:srgbClr val="000000"/>
                </a:solidFill>
              </a:rPr>
              <a:t>• Human reviews domain correctness and business rules.</a:t>
            </a:r>
          </a:p>
          <a:p>
            <a:r>
              <a:rPr lang="en-US">
                <a:solidFill>
                  <a:srgbClr val="000000"/>
                </a:solidFill>
              </a:rPr>
              <a:t>• Deterministic CoreEx scaffolding provides predictable baselines; agentic prompting provides fast customization on top.</a:t>
            </a:r>
          </a:p>
        </p:txBody>
      </p:sp>
    </p:spTree>
    <p:extLst>
      <p:ext uri="{BB962C8B-B14F-4D97-AF65-F5344CB8AC3E}">
        <p14:creationId xmlns:p14="http://schemas.microsoft.com/office/powerpoint/2010/main" val="4082505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F886-BDE5-BE9F-E4E4-B875A526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End-to-End Flow
From Prompt to Running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F7C16-B9AB-614B-3FE3-B2CBDC24B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1. Capture request: domains, hosts, persistence, behaviors.</a:t>
            </a:r>
          </a:p>
          <a:p>
            <a:r>
              <a:rPr lang="en-US">
                <a:solidFill>
                  <a:srgbClr val="000000"/>
                </a:solidFill>
              </a:rPr>
              <a:t>• 2. Select skill and package set.</a:t>
            </a:r>
          </a:p>
          <a:p>
            <a:r>
              <a:rPr lang="en-US">
                <a:solidFill>
                  <a:srgbClr val="000000"/>
                </a:solidFill>
              </a:rPr>
              <a:t>• 3. Materialize solution and project templates.</a:t>
            </a:r>
          </a:p>
          <a:p>
            <a:r>
              <a:rPr lang="en-US">
                <a:solidFill>
                  <a:srgbClr val="000000"/>
                </a:solidFill>
              </a:rPr>
              <a:t>• 4. Generate layer artifacts: Contracts, Application, Infrastructure, API, Database.</a:t>
            </a:r>
          </a:p>
          <a:p>
            <a:r>
              <a:rPr lang="en-US">
                <a:solidFill>
                  <a:srgbClr val="000000"/>
                </a:solidFill>
              </a:rPr>
              <a:t>• 5. Apply conventions from scoped instruction files.</a:t>
            </a:r>
          </a:p>
          <a:p>
            <a:r>
              <a:rPr lang="en-US">
                <a:solidFill>
                  <a:srgbClr val="000000"/>
                </a:solidFill>
              </a:rPr>
              <a:t>• 6. Run diagnostics and fix generation errors.</a:t>
            </a:r>
          </a:p>
          <a:p>
            <a:r>
              <a:rPr lang="en-US">
                <a:solidFill>
                  <a:srgbClr val="000000"/>
                </a:solidFill>
              </a:rPr>
              <a:t>• 7. Build and verify starter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31037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E44DE-86CC-A735-79F7-5E8BD708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Context Hierarchy
How the Agent Stays Aligned to CoreEx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1A984-AF7A-BC4D-0BCD-14B3B6AA6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Copilot instructions define global CoreEx-first behavior.</a:t>
            </a:r>
          </a:p>
          <a:p>
            <a:r>
              <a:rPr lang="en-US">
                <a:solidFill>
                  <a:srgbClr val="000000"/>
                </a:solidFill>
              </a:rPr>
              <a:t>• Scoped instruction files enforce local patterns by file type.</a:t>
            </a:r>
          </a:p>
          <a:p>
            <a:r>
              <a:rPr lang="en-US">
                <a:solidFill>
                  <a:srgbClr val="000000"/>
                </a:solidFill>
              </a:rPr>
              <a:t>• Skill logic maps requested capabilities to concrete package choices.</a:t>
            </a:r>
          </a:p>
          <a:p>
            <a:r>
              <a:rPr lang="en-US">
                <a:solidFill>
                  <a:srgbClr val="000000"/>
                </a:solidFill>
              </a:rPr>
              <a:t>• Prompts capture required inputs and enforce completion checklists.</a:t>
            </a:r>
          </a:p>
          <a:p>
            <a:r>
              <a:rPr lang="en-US">
                <a:solidFill>
                  <a:srgbClr val="000000"/>
                </a:solidFill>
              </a:rPr>
              <a:t>• Sample projects and docs provide reference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2606532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B7602-1F12-49F6-4F8C-9D8F62F7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Generated Architecture
Standard Layered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45C1E-7A05-2D6D-5B0C-87D4427FB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Contracts project for DTOs and source-generation annotations.</a:t>
            </a:r>
          </a:p>
          <a:p>
            <a:r>
              <a:rPr lang="en-US">
                <a:solidFill>
                  <a:srgbClr val="000000"/>
                </a:solidFill>
              </a:rPr>
              <a:t>• Application project for services, validation, exceptions, and orchestration.</a:t>
            </a:r>
          </a:p>
          <a:p>
            <a:r>
              <a:rPr lang="en-US">
                <a:solidFill>
                  <a:srgbClr val="000000"/>
                </a:solidFill>
              </a:rPr>
              <a:t>• Infrastructure project for repository and adapter implementations.</a:t>
            </a:r>
          </a:p>
          <a:p>
            <a:r>
              <a:rPr lang="en-US">
                <a:solidFill>
                  <a:srgbClr val="000000"/>
                </a:solidFill>
              </a:rPr>
              <a:t>• API host with CoreEx middleware and OpenAPI conventions.</a:t>
            </a:r>
          </a:p>
          <a:p>
            <a:r>
              <a:rPr lang="en-US">
                <a:solidFill>
                  <a:srgbClr val="000000"/>
                </a:solidFill>
              </a:rPr>
              <a:t>• Database project with migrations, outbox tables, and procedures.</a:t>
            </a:r>
          </a:p>
          <a:p>
            <a:r>
              <a:rPr lang="en-US">
                <a:solidFill>
                  <a:srgbClr val="000000"/>
                </a:solidFill>
              </a:rPr>
              <a:t>• Optional subscribe and outbox relay hosts when integration requires them.</a:t>
            </a:r>
          </a:p>
          <a:p>
            <a:r>
              <a:rPr lang="en-US">
                <a:solidFill>
                  <a:srgbClr val="000000"/>
                </a:solidFill>
              </a:rPr>
              <a:t>• Domain-first modeling aligned to DDD (aggregates, value objects, bounded contexts).</a:t>
            </a:r>
          </a:p>
          <a:p>
            <a:r>
              <a:rPr lang="en-US">
                <a:solidFill>
                  <a:srgbClr val="000000"/>
                </a:solidFill>
              </a:rPr>
              <a:t>• Modern architecture support out of the box: eventing, microservice host separation, and integration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2232900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DC5F-78F1-4B44-B8B7-3E481908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Products and Shopping Sample Topology
Architecture Shown in the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0FB09-1551-481E-A279-618ED4069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Two bounded domains, each with its own API and Application layer.</a:t>
            </a:r>
          </a:p>
          <a:p>
            <a:r>
              <a:rPr lang="en-US">
                <a:solidFill>
                  <a:srgbClr val="000000"/>
                </a:solidFill>
              </a:rPr>
              <a:t>• Each domain application encapsulates contracts and infrastructure concerns behind its service boundary.</a:t>
            </a:r>
          </a:p>
          <a:p>
            <a:r>
              <a:rPr lang="en-US">
                <a:solidFill>
                  <a:srgbClr val="000000"/>
                </a:solidFill>
              </a:rPr>
              <a:t>• Unit-of-Work sits between application logic and persistence.</a:t>
            </a:r>
          </a:p>
          <a:p>
            <a:r>
              <a:rPr lang="en-US">
                <a:solidFill>
                  <a:srgbClr val="000000"/>
                </a:solidFill>
              </a:rPr>
              <a:t>• Each domain has isolated Data and Outbox stores.</a:t>
            </a:r>
          </a:p>
          <a:p>
            <a:r>
              <a:rPr lang="en-US">
                <a:solidFill>
                  <a:srgbClr val="000000"/>
                </a:solidFill>
              </a:rPr>
              <a:t>• Outbox Relay and Message Subscriber are deployed per domain.</a:t>
            </a:r>
          </a:p>
          <a:p>
            <a:r>
              <a:rPr lang="en-US">
                <a:solidFill>
                  <a:srgbClr val="000000"/>
                </a:solidFill>
              </a:rPr>
              <a:t>• Domains communicate asynchronously through a shared queue or stream backbone.</a:t>
            </a:r>
          </a:p>
          <a:p>
            <a:r>
              <a:rPr lang="en-US">
                <a:solidFill>
                  <a:srgbClr val="000000"/>
                </a:solidFill>
              </a:rPr>
              <a:t>• Cache is shown as a shared cross-domain optimization layer.</a:t>
            </a:r>
          </a:p>
        </p:txBody>
      </p:sp>
    </p:spTree>
    <p:extLst>
      <p:ext uri="{BB962C8B-B14F-4D97-AF65-F5344CB8AC3E}">
        <p14:creationId xmlns:p14="http://schemas.microsoft.com/office/powerpoint/2010/main" val="122846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5CD7-E1FD-46AB-AE79-449E8029F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Determinism vs Pure Agentic Variance
Why CoreEx Scaffolding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B0349-3391-E65F-4676-D91C8BE06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Pure agent-only generation can vary between runs, prompts, and model behavior.</a:t>
            </a:r>
          </a:p>
          <a:p>
            <a:r>
              <a:rPr lang="en-US">
                <a:solidFill>
                  <a:srgbClr val="000000"/>
                </a:solidFill>
              </a:rPr>
              <a:t>• CoreEx templates, instructions, and skills constrain generation into known-good patterns.</a:t>
            </a:r>
          </a:p>
          <a:p>
            <a:r>
              <a:rPr lang="en-US">
                <a:solidFill>
                  <a:srgbClr val="000000"/>
                </a:solidFill>
              </a:rPr>
              <a:t>• Teams get deterministic project structure, wiring, and conventions from day one.</a:t>
            </a:r>
          </a:p>
          <a:p>
            <a:r>
              <a:rPr lang="en-US">
                <a:solidFill>
                  <a:srgbClr val="000000"/>
                </a:solidFill>
              </a:rPr>
              <a:t>• Agentic prompting still adds flexibility for domain-specific features and behavior.</a:t>
            </a:r>
          </a:p>
        </p:txBody>
      </p:sp>
    </p:spTree>
    <p:extLst>
      <p:ext uri="{BB962C8B-B14F-4D97-AF65-F5344CB8AC3E}">
        <p14:creationId xmlns:p14="http://schemas.microsoft.com/office/powerpoint/2010/main" val="4068405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034F-D13B-96F6-2C8B-6227DF38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Guardrails and Quality Gates
Built-In Enforcement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EC6BF-E56B-A112-0501-09807AEB0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Constructor dependency null guards.</a:t>
            </a:r>
          </a:p>
          <a:p>
            <a:r>
              <a:rPr lang="en-US">
                <a:solidFill>
                  <a:srgbClr val="000000"/>
                </a:solidFill>
              </a:rPr>
              <a:t>• ConfigureAwait(false) in async service and repository flows.</a:t>
            </a:r>
          </a:p>
          <a:p>
            <a:r>
              <a:rPr lang="en-US">
                <a:solidFill>
                  <a:srgbClr val="000000"/>
                </a:solidFill>
              </a:rPr>
              <a:t>• Mutation operations wrapped in Unit of Work.</a:t>
            </a:r>
          </a:p>
          <a:p>
            <a:r>
              <a:rPr lang="en-US">
                <a:solidFill>
                  <a:srgbClr val="000000"/>
                </a:solidFill>
              </a:rPr>
              <a:t>• Event emission inside mutation-aware blocks.</a:t>
            </a:r>
          </a:p>
          <a:p>
            <a:r>
              <a:rPr lang="en-US">
                <a:solidFill>
                  <a:srgbClr val="000000"/>
                </a:solidFill>
              </a:rPr>
              <a:t>• CoreEx WebApi helper usage and response conventions.</a:t>
            </a:r>
          </a:p>
          <a:p>
            <a:r>
              <a:rPr lang="en-US">
                <a:solidFill>
                  <a:srgbClr val="000000"/>
                </a:solidFill>
              </a:rPr>
              <a:t>• Validation before persistence using CoreEx validators.</a:t>
            </a:r>
          </a:p>
          <a:p>
            <a:r>
              <a:rPr lang="en-US">
                <a:solidFill>
                  <a:srgbClr val="000000"/>
                </a:solidFill>
              </a:rPr>
              <a:t>• Diagnostics check before completion.</a:t>
            </a:r>
          </a:p>
        </p:txBody>
      </p:sp>
    </p:spTree>
    <p:extLst>
      <p:ext uri="{BB962C8B-B14F-4D97-AF65-F5344CB8AC3E}">
        <p14:creationId xmlns:p14="http://schemas.microsoft.com/office/powerpoint/2010/main" val="2557224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1768-55AC-E887-9681-9296F493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Prompt Sequence for Teams
Suggested Delivery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8C39E-C08F-EFEA-52E3-C42D7D492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1. Run init prompt to verify machine prerequisites.</a:t>
            </a:r>
          </a:p>
          <a:p>
            <a:r>
              <a:rPr lang="en-US">
                <a:solidFill>
                  <a:srgbClr val="000000"/>
                </a:solidFill>
              </a:rPr>
              <a:t>• 2. Run setup prompt to start dependencies and local runtime.</a:t>
            </a:r>
          </a:p>
          <a:p>
            <a:r>
              <a:rPr lang="en-US">
                <a:solidFill>
                  <a:srgbClr val="000000"/>
                </a:solidFill>
              </a:rPr>
              <a:t>• 3. Run solution bootstrap skill for initial project layout.</a:t>
            </a:r>
          </a:p>
          <a:p>
            <a:r>
              <a:rPr lang="en-US">
                <a:solidFill>
                  <a:srgbClr val="000000"/>
                </a:solidFill>
              </a:rPr>
              <a:t>• 4. Run domain generation prompt for new bounded contexts.</a:t>
            </a:r>
          </a:p>
          <a:p>
            <a:r>
              <a:rPr lang="en-US">
                <a:solidFill>
                  <a:srgbClr val="000000"/>
                </a:solidFill>
              </a:rPr>
              <a:t>• 5. Run template-scaffold prompt for fast repeatable domain cloning.</a:t>
            </a:r>
          </a:p>
          <a:p>
            <a:r>
              <a:rPr lang="en-US">
                <a:solidFill>
                  <a:srgbClr val="000000"/>
                </a:solidFill>
              </a:rPr>
              <a:t>• 6. Execute tests and E2E checks.</a:t>
            </a:r>
          </a:p>
        </p:txBody>
      </p:sp>
    </p:spTree>
    <p:extLst>
      <p:ext uri="{BB962C8B-B14F-4D97-AF65-F5344CB8AC3E}">
        <p14:creationId xmlns:p14="http://schemas.microsoft.com/office/powerpoint/2010/main" val="1504281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1E68-2200-0AC8-A2B0-E787F776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Example Ask
Example Prompt to Kick Off Scaffolding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5010E-7C94-B9E3-795D-C7A257825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Create a new CoreEx solution.</a:t>
            </a:r>
          </a:p>
          <a:p>
            <a:r>
              <a:rPr lang="en-US">
                <a:solidFill>
                  <a:srgbClr val="000000"/>
                </a:solidFill>
              </a:rPr>
              <a:t>• I need a Web API and Worker service.</a:t>
            </a:r>
          </a:p>
          <a:p>
            <a:r>
              <a:rPr lang="en-US">
                <a:solidFill>
                  <a:srgbClr val="000000"/>
                </a:solidFill>
              </a:rPr>
              <a:t>• Domains: Product and Shopping.</a:t>
            </a:r>
          </a:p>
          <a:p>
            <a:r>
              <a:rPr lang="en-US">
                <a:solidFill>
                  <a:srgbClr val="000000"/>
                </a:solidFill>
              </a:rPr>
              <a:t>• Include validation and behaviors.</a:t>
            </a:r>
          </a:p>
          <a:p>
            <a:r>
              <a:rPr lang="en-US">
                <a:solidFill>
                  <a:srgbClr val="000000"/>
                </a:solidFill>
              </a:rPr>
              <a:t>• Use SQL Server persistence.</a:t>
            </a:r>
          </a:p>
          <a:p>
            <a:r>
              <a:rPr lang="en-US">
                <a:solidFill>
                  <a:srgbClr val="000000"/>
                </a:solidFill>
              </a:rPr>
              <a:t>• Use Kafka as message broker.</a:t>
            </a:r>
          </a:p>
          <a:p>
            <a:r>
              <a:rPr lang="en-US">
                <a:solidFill>
                  <a:srgbClr val="000000"/>
                </a:solidFill>
              </a:rPr>
              <a:t>• Scaffold full repository structure with tests.</a:t>
            </a:r>
          </a:p>
        </p:txBody>
      </p:sp>
    </p:spTree>
    <p:extLst>
      <p:ext uri="{BB962C8B-B14F-4D97-AF65-F5344CB8AC3E}">
        <p14:creationId xmlns:p14="http://schemas.microsoft.com/office/powerpoint/2010/main" val="4170725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90D3-E04E-FC83-BF16-8B0A9E64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Benefits Realized
Expected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42C9C-1195-3B1B-EA77-49C080F04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Faster time from idea to compilable baseline.</a:t>
            </a:r>
          </a:p>
          <a:p>
            <a:r>
              <a:rPr lang="en-US">
                <a:solidFill>
                  <a:srgbClr val="000000"/>
                </a:solidFill>
              </a:rPr>
              <a:t>• Higher consistency with CoreEx coding and architecture conventions.</a:t>
            </a:r>
          </a:p>
          <a:p>
            <a:r>
              <a:rPr lang="en-US">
                <a:solidFill>
                  <a:srgbClr val="000000"/>
                </a:solidFill>
              </a:rPr>
              <a:t>• Reduced architecture drift during early implementation.</a:t>
            </a:r>
          </a:p>
          <a:p>
            <a:r>
              <a:rPr lang="en-US">
                <a:solidFill>
                  <a:srgbClr val="000000"/>
                </a:solidFill>
              </a:rPr>
              <a:t>• Lower cognitive load for new teams onboarding to CoreEx.</a:t>
            </a:r>
          </a:p>
          <a:p>
            <a:r>
              <a:rPr lang="en-US">
                <a:solidFill>
                  <a:srgbClr val="000000"/>
                </a:solidFill>
              </a:rPr>
              <a:t>• Better review quality by focusing reviews on business semantics.</a:t>
            </a:r>
          </a:p>
          <a:p>
            <a:r>
              <a:rPr lang="en-US">
                <a:solidFill>
                  <a:srgbClr val="000000"/>
                </a:solidFill>
              </a:rPr>
              <a:t>• Opinionated patterns out of the box reduce friction versus composing a generic framework from scratch.</a:t>
            </a:r>
          </a:p>
          <a:p>
            <a:r>
              <a:rPr lang="en-US">
                <a:solidFill>
                  <a:srgbClr val="000000"/>
                </a:solidFill>
              </a:rPr>
              <a:t>• Teams pull in only needed capabilities (validation, events, caching, messaging) instead of hand-integrating foundations.</a:t>
            </a:r>
          </a:p>
          <a:p>
            <a:r>
              <a:rPr lang="en-US">
                <a:solidFill>
                  <a:srgbClr val="000000"/>
                </a:solidFill>
              </a:rPr>
              <a:t>• Smoother transition from initial delivery teams to long-lived ownership with maintainable, standards-aligned code.</a:t>
            </a:r>
          </a:p>
        </p:txBody>
      </p:sp>
    </p:spTree>
    <p:extLst>
      <p:ext uri="{BB962C8B-B14F-4D97-AF65-F5344CB8AC3E}">
        <p14:creationId xmlns:p14="http://schemas.microsoft.com/office/powerpoint/2010/main" val="1760764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8107-A47C-91E3-E6FC-B662324D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Platform Flexibility
Not Locked to One Backend or Broker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9B3B1-0C3D-0C34-C6C6-FF73EB5BF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Data persistence can target multiple backend types depending on provider and project needs.</a:t>
            </a:r>
          </a:p>
          <a:p>
            <a:r>
              <a:rPr lang="en-US">
                <a:solidFill>
                  <a:srgbClr val="000000"/>
                </a:solidFill>
              </a:rPr>
              <a:t>• Messaging integration is pluggable; Azure Service Bus is supported, but not mandatory.</a:t>
            </a:r>
          </a:p>
          <a:p>
            <a:r>
              <a:rPr lang="en-US">
                <a:solidFill>
                  <a:srgbClr val="000000"/>
                </a:solidFill>
              </a:rPr>
              <a:t>• Agentic prompts can specify preferred database and broker choices per solution.</a:t>
            </a:r>
          </a:p>
          <a:p>
            <a:r>
              <a:rPr lang="en-US">
                <a:solidFill>
                  <a:srgbClr val="000000"/>
                </a:solidFill>
              </a:rPr>
              <a:t>• Deterministic scaffolding still applies even when platform selections vary.</a:t>
            </a:r>
          </a:p>
        </p:txBody>
      </p:sp>
    </p:spTree>
    <p:extLst>
      <p:ext uri="{BB962C8B-B14F-4D97-AF65-F5344CB8AC3E}">
        <p14:creationId xmlns:p14="http://schemas.microsoft.com/office/powerpoint/2010/main" val="75908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AD01-CA01-4B76-53DC-3F80CEAF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CoreEx Capability Inventory (General)
Included Components and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A659D-0683-BD65-D788-D7F820E63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Error-based exceptions: NotFound, Validation, Concurrency, and related exception types.</a:t>
            </a:r>
          </a:p>
          <a:p>
            <a:r>
              <a:rPr lang="en-US">
                <a:solidFill>
                  <a:srgbClr val="000000"/>
                </a:solidFill>
              </a:rPr>
              <a:t>• Dynamic dependency injection patterns.</a:t>
            </a:r>
          </a:p>
          <a:p>
            <a:r>
              <a:rPr lang="en-US">
                <a:solidFill>
                  <a:srgbClr val="000000"/>
                </a:solidFill>
              </a:rPr>
              <a:t>• Entities: Identifier and CompositeKey support.</a:t>
            </a:r>
          </a:p>
          <a:p>
            <a:r>
              <a:rPr lang="en-US">
                <a:solidFill>
                  <a:srgbClr val="000000"/>
                </a:solidFill>
              </a:rPr>
              <a:t>• ETag support for optimistic concurrency.</a:t>
            </a:r>
          </a:p>
          <a:p>
            <a:r>
              <a:rPr lang="en-US">
                <a:solidFill>
                  <a:srgbClr val="000000"/>
                </a:solidFill>
              </a:rPr>
              <a:t>• Change log support for created and updated metadata.</a:t>
            </a:r>
          </a:p>
          <a:p>
            <a:r>
              <a:rPr lang="en-US">
                <a:solidFill>
                  <a:srgbClr val="000000"/>
                </a:solidFill>
              </a:rPr>
              <a:t>• Deep-compare capabilities for entity state comparison.</a:t>
            </a:r>
          </a:p>
          <a:p>
            <a:r>
              <a:rPr lang="en-US">
                <a:solidFill>
                  <a:srgbClr val="000000"/>
                </a:solidFill>
              </a:rPr>
              <a:t>• Roslyn source-generation support.</a:t>
            </a:r>
          </a:p>
          <a:p>
            <a:r>
              <a:rPr lang="en-US">
                <a:solidFill>
                  <a:srgbClr val="000000"/>
                </a:solidFill>
              </a:rPr>
              <a:t>• Instrumentation and health checks.</a:t>
            </a:r>
          </a:p>
          <a:p>
            <a:r>
              <a:rPr lang="en-US">
                <a:solidFill>
                  <a:srgbClr val="000000"/>
                </a:solidFill>
              </a:rPr>
              <a:t>• Hybrid cache (L1 and L2) with FusionCache, backplane support, and Redis integration.</a:t>
            </a:r>
          </a:p>
          <a:p>
            <a:r>
              <a:rPr lang="en-US">
                <a:solidFill>
                  <a:srgbClr val="000000"/>
                </a:solidFill>
              </a:rPr>
              <a:t>• Hosted services for timer-driven and synchronized workloads.</a:t>
            </a:r>
          </a:p>
          <a:p>
            <a:r>
              <a:rPr lang="en-US">
                <a:solidFill>
                  <a:srgbClr val="000000"/>
                </a:solidFill>
              </a:rPr>
              <a:t>• Reference data orchestration, including caching support.</a:t>
            </a:r>
          </a:p>
          <a:p>
            <a:r>
              <a:rPr lang="en-US">
                <a:solidFill>
                  <a:srgbClr val="000000"/>
                </a:solidFill>
              </a:rPr>
              <a:t>• System.Text.Json support for filtering and merge-patch workflows.</a:t>
            </a:r>
          </a:p>
          <a:p>
            <a:r>
              <a:rPr lang="en-US">
                <a:solidFill>
                  <a:srgbClr val="000000"/>
                </a:solidFill>
              </a:rPr>
              <a:t>• Validation pipeline as an alternative to FluentValidation.</a:t>
            </a:r>
          </a:p>
          <a:p>
            <a:r>
              <a:rPr lang="en-US">
                <a:solidFill>
                  <a:srgbClr val="000000"/>
                </a:solidFill>
              </a:rPr>
              <a:t>• Mapping helpers with explicit mapping patterns (no AutoMapper).</a:t>
            </a:r>
          </a:p>
          <a:p>
            <a:r>
              <a:rPr lang="en-US">
                <a:solidFill>
                  <a:srgbClr val="000000"/>
                </a:solidFill>
              </a:rPr>
              <a:t>• Globalization and localization primitives.</a:t>
            </a:r>
          </a:p>
          <a:p>
            <a:r>
              <a:rPr lang="en-US">
                <a:solidFill>
                  <a:srgbClr val="000000"/>
                </a:solidFill>
              </a:rPr>
              <a:t>• Result-based railway-oriented programming composition.</a:t>
            </a:r>
          </a:p>
        </p:txBody>
      </p:sp>
    </p:spTree>
    <p:extLst>
      <p:ext uri="{BB962C8B-B14F-4D97-AF65-F5344CB8AC3E}">
        <p14:creationId xmlns:p14="http://schemas.microsoft.com/office/powerpoint/2010/main" val="831726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E6F91-7843-D6CA-88F1-B56E641A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ASP.NET Core and Data Capabilities
Included Web, Data, and Database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5B86B-52AF-1F4C-5EFE-E4626F618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Web API styles: Http-style minimal APIs and MVC controller APIs.</a:t>
            </a:r>
          </a:p>
          <a:p>
            <a:r>
              <a:rPr lang="en-US">
                <a:solidFill>
                  <a:srgbClr val="000000"/>
                </a:solidFill>
              </a:rPr>
              <a:t>• application/merge-patch+json support.</a:t>
            </a:r>
          </a:p>
          <a:p>
            <a:r>
              <a:rPr lang="en-US">
                <a:solidFill>
                  <a:srgbClr val="000000"/>
                </a:solidFill>
              </a:rPr>
              <a:t>• Response JSON filtering support.</a:t>
            </a:r>
          </a:p>
          <a:p>
            <a:r>
              <a:rPr lang="en-US">
                <a:solidFill>
                  <a:srgbClr val="000000"/>
                </a:solidFill>
              </a:rPr>
              <a:t>• Error handling middleware aligned with ProblemDetails.</a:t>
            </a:r>
          </a:p>
          <a:p>
            <a:r>
              <a:rPr lang="en-US">
                <a:solidFill>
                  <a:srgbClr val="000000"/>
                </a:solidFill>
              </a:rPr>
              <a:t>• IF-MATCH ETag semantics for GET and PUT or PATCH workflows.</a:t>
            </a:r>
          </a:p>
          <a:p>
            <a:r>
              <a:rPr lang="en-US">
                <a:solidFill>
                  <a:srgbClr val="000000"/>
                </a:solidFill>
              </a:rPr>
              <a:t>• Idempotency-Key support for POST.</a:t>
            </a:r>
          </a:p>
          <a:p>
            <a:r>
              <a:rPr lang="en-US">
                <a:solidFill>
                  <a:srgbClr val="000000"/>
                </a:solidFill>
              </a:rPr>
              <a:t>• Health check endpoints.</a:t>
            </a:r>
          </a:p>
          <a:p>
            <a:r>
              <a:rPr lang="en-US">
                <a:solidFill>
                  <a:srgbClr val="000000"/>
                </a:solidFill>
              </a:rPr>
              <a:t>• OpenAPI generation via NSwag.</a:t>
            </a:r>
          </a:p>
          <a:p>
            <a:r>
              <a:rPr lang="en-US">
                <a:solidFill>
                  <a:srgbClr val="000000"/>
                </a:solidFill>
              </a:rPr>
              <a:t>• CQRS read and write separation support.</a:t>
            </a:r>
          </a:p>
          <a:p>
            <a:r>
              <a:rPr lang="en-US">
                <a:solidFill>
                  <a:srgbClr val="000000"/>
                </a:solidFill>
              </a:rPr>
              <a:t>• Unit-of-Work with integrated Outbox.</a:t>
            </a:r>
          </a:p>
          <a:p>
            <a:r>
              <a:rPr lang="en-US">
                <a:solidFill>
                  <a:srgbClr val="000000"/>
                </a:solidFill>
              </a:rPr>
              <a:t>• Paging support using skip/take with total count.</a:t>
            </a:r>
          </a:p>
          <a:p>
            <a:r>
              <a:rPr lang="en-US">
                <a:solidFill>
                  <a:srgbClr val="000000"/>
                </a:solidFill>
              </a:rPr>
              <a:t>• Dynamic OData-like query support for filtering and ordering.</a:t>
            </a:r>
          </a:p>
          <a:p>
            <a:r>
              <a:rPr lang="en-US">
                <a:solidFill>
                  <a:srgbClr val="000000"/>
                </a:solidFill>
              </a:rPr>
              <a:t>• Multi-tenancy behavior support.</a:t>
            </a:r>
          </a:p>
          <a:p>
            <a:r>
              <a:rPr lang="en-US">
                <a:solidFill>
                  <a:srgbClr val="000000"/>
                </a:solidFill>
              </a:rPr>
              <a:t>• Type discriminator support where required.</a:t>
            </a:r>
          </a:p>
          <a:p>
            <a:r>
              <a:rPr lang="en-US">
                <a:solidFill>
                  <a:srgbClr val="000000"/>
                </a:solidFill>
              </a:rPr>
              <a:t>• Database support: SQL Server and PostgreSQL (provider dependent).</a:t>
            </a:r>
          </a:p>
          <a:p>
            <a:r>
              <a:rPr lang="en-US">
                <a:solidFill>
                  <a:srgbClr val="000000"/>
                </a:solidFill>
              </a:rPr>
              <a:t>• ADO.NET command, record, and parameter extensions.</a:t>
            </a:r>
          </a:p>
          <a:p>
            <a:r>
              <a:rPr lang="en-US">
                <a:solidFill>
                  <a:srgbClr val="000000"/>
                </a:solidFill>
              </a:rPr>
              <a:t>• Entity Framework integration support.</a:t>
            </a:r>
          </a:p>
        </p:txBody>
      </p:sp>
    </p:spTree>
    <p:extLst>
      <p:ext uri="{BB962C8B-B14F-4D97-AF65-F5344CB8AC3E}">
        <p14:creationId xmlns:p14="http://schemas.microsoft.com/office/powerpoint/2010/main" val="3516101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F4CB-5243-63D2-8282-6CF082EF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Messaging and Domain-Driven Capabilities
Included Eventing and DDD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79781-86B4-939E-07D7-2D034B5BF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EventData as an agnostic message representation.</a:t>
            </a:r>
          </a:p>
          <a:p>
            <a:r>
              <a:rPr lang="en-US">
                <a:solidFill>
                  <a:srgbClr val="000000"/>
                </a:solidFill>
              </a:rPr>
              <a:t>• CloudEvent conversion and interoperability support.</a:t>
            </a:r>
          </a:p>
          <a:p>
            <a:r>
              <a:rPr lang="en-US">
                <a:solidFill>
                  <a:srgbClr val="000000"/>
                </a:solidFill>
              </a:rPr>
              <a:t>• Publish and subscribe patterns with per-message subscription behavior from stream.</a:t>
            </a:r>
          </a:p>
          <a:p>
            <a:r>
              <a:rPr lang="en-US">
                <a:solidFill>
                  <a:srgbClr val="000000"/>
                </a:solidFill>
              </a:rPr>
              <a:t>• Azure Service Bus integration patterns.</a:t>
            </a:r>
          </a:p>
          <a:p>
            <a:r>
              <a:rPr lang="en-US">
                <a:solidFill>
                  <a:srgbClr val="000000"/>
                </a:solidFill>
              </a:rPr>
              <a:t>• Outbox relay support with partition-aware patterns.</a:t>
            </a:r>
          </a:p>
          <a:p>
            <a:r>
              <a:rPr lang="en-US">
                <a:solidFill>
                  <a:srgbClr val="000000"/>
                </a:solidFill>
              </a:rPr>
              <a:t>• Domain-driven modeling support for aggregates and entities.</a:t>
            </a:r>
          </a:p>
          <a:p>
            <a:r>
              <a:rPr lang="en-US">
                <a:solidFill>
                  <a:srgbClr val="000000"/>
                </a:solidFill>
              </a:rPr>
              <a:t>• ValueObject modeling using C# record class patterns.</a:t>
            </a:r>
          </a:p>
          <a:p>
            <a:r>
              <a:rPr lang="en-US">
                <a:solidFill>
                  <a:srgbClr val="000000"/>
                </a:solidFill>
              </a:rPr>
              <a:t>• Integration-events only guidance.</a:t>
            </a:r>
          </a:p>
          <a:p>
            <a:r>
              <a:rPr lang="en-US">
                <a:solidFill>
                  <a:srgbClr val="000000"/>
                </a:solidFill>
              </a:rPr>
              <a:t>• Explicitly no domain-events and no MediatR-based in-process orchestration by default.</a:t>
            </a:r>
          </a:p>
        </p:txBody>
      </p:sp>
    </p:spTree>
    <p:extLst>
      <p:ext uri="{BB962C8B-B14F-4D97-AF65-F5344CB8AC3E}">
        <p14:creationId xmlns:p14="http://schemas.microsoft.com/office/powerpoint/2010/main" val="367609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BEC0-C3D1-2E89-0B39-933B7DD5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Current Upgrade Status and Roadmap
What Is Next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53960-FFFE-F305-BD88-D97585634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To be upgraded:</a:t>
            </a:r>
          </a:p>
          <a:p>
            <a:r>
              <a:rPr lang="en-US">
                <a:solidFill>
                  <a:srgbClr val="000000"/>
                </a:solidFill>
              </a:rPr>
              <a:t>• Azure Functions.</a:t>
            </a:r>
          </a:p>
          <a:p>
            <a:r>
              <a:rPr lang="en-US">
                <a:solidFill>
                  <a:srgbClr val="000000"/>
                </a:solidFill>
              </a:rPr>
              <a:t>• Cosmos (CRUD and Query).</a:t>
            </a:r>
          </a:p>
          <a:p>
            <a:r>
              <a:rPr lang="en-US">
                <a:solidFill>
                  <a:srgbClr val="000000"/>
                </a:solidFill>
              </a:rPr>
              <a:t>• Dataverse.</a:t>
            </a:r>
          </a:p>
          <a:p>
            <a:r>
              <a:rPr lang="en-US">
                <a:solidFill>
                  <a:srgbClr val="000000"/>
                </a:solidFill>
              </a:rPr>
              <a:t>• OData.</a:t>
            </a:r>
          </a:p>
          <a:p>
            <a:r>
              <a:rPr lang="en-US">
                <a:solidFill>
                  <a:srgbClr val="000000"/>
                </a:solidFill>
              </a:rPr>
              <a:t>• Solace messaging integration.</a:t>
            </a:r>
          </a:p>
          <a:p>
            <a:r>
              <a:rPr lang="en-US">
                <a:solidFill>
                  <a:srgbClr val="000000"/>
                </a:solidFill>
              </a:rPr>
              <a:t>• Roadmap:</a:t>
            </a:r>
          </a:p>
          <a:p>
            <a:r>
              <a:rPr lang="en-US">
                <a:solidFill>
                  <a:srgbClr val="000000"/>
                </a:solidFill>
              </a:rPr>
              <a:t>• MongoDB.</a:t>
            </a:r>
          </a:p>
          <a:p>
            <a:r>
              <a:rPr lang="en-US">
                <a:solidFill>
                  <a:srgbClr val="000000"/>
                </a:solidFill>
              </a:rPr>
              <a:t>• DocumentDB (new).</a:t>
            </a:r>
          </a:p>
          <a:p>
            <a:r>
              <a:rPr lang="en-US">
                <a:solidFill>
                  <a:srgbClr val="000000"/>
                </a:solidFill>
              </a:rPr>
              <a:t>• Kafka.</a:t>
            </a:r>
          </a:p>
          <a:p>
            <a:r>
              <a:rPr lang="en-US">
                <a:solidFill>
                  <a:srgbClr val="000000"/>
                </a:solidFill>
              </a:rPr>
              <a:t>• Aspire enabled (done):</a:t>
            </a:r>
          </a:p>
          <a:p>
            <a:r>
              <a:rPr lang="en-US">
                <a:solidFill>
                  <a:srgbClr val="000000"/>
                </a:solidFill>
              </a:rPr>
              <a:t>• Leverages component runtime libraries.</a:t>
            </a:r>
          </a:p>
          <a:p>
            <a:r>
              <a:rPr lang="en-US">
                <a:solidFill>
                  <a:srgbClr val="000000"/>
                </a:solidFill>
              </a:rPr>
              <a:t>• Sample uses console for logging, tracing, and metrics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982592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1A41-9A51-E708-20CE-13D5EBAC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Risks and Mitigations
What to Watch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1B10-16C5-8F6D-F70C-6B47272E4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Risk: over-trusting generated output.</a:t>
            </a:r>
          </a:p>
          <a:p>
            <a:r>
              <a:rPr lang="en-US">
                <a:solidFill>
                  <a:srgbClr val="000000"/>
                </a:solidFill>
              </a:rPr>
              <a:t>• Mitigation: enforce mandatory human review and test gates.</a:t>
            </a:r>
          </a:p>
          <a:p>
            <a:r>
              <a:rPr lang="en-US">
                <a:solidFill>
                  <a:srgbClr val="000000"/>
                </a:solidFill>
              </a:rPr>
              <a:t>• Risk: stale templates or instruction drift.</a:t>
            </a:r>
          </a:p>
          <a:p>
            <a:r>
              <a:rPr lang="en-US">
                <a:solidFill>
                  <a:srgbClr val="000000"/>
                </a:solidFill>
              </a:rPr>
              <a:t>• Mitigation: version and periodically validate scaffolding assets against samples.</a:t>
            </a:r>
          </a:p>
          <a:p>
            <a:r>
              <a:rPr lang="en-US">
                <a:solidFill>
                  <a:srgbClr val="000000"/>
                </a:solidFill>
              </a:rPr>
              <a:t>• Risk: ambiguous prompts produce wrong shape.</a:t>
            </a:r>
          </a:p>
          <a:p>
            <a:r>
              <a:rPr lang="en-US">
                <a:solidFill>
                  <a:srgbClr val="000000"/>
                </a:solidFill>
              </a:rPr>
              <a:t>• Mitigation: require minimal clarifying questions for orchestration, CQRS, and integration topology.</a:t>
            </a:r>
          </a:p>
        </p:txBody>
      </p:sp>
    </p:spTree>
    <p:extLst>
      <p:ext uri="{BB962C8B-B14F-4D97-AF65-F5344CB8AC3E}">
        <p14:creationId xmlns:p14="http://schemas.microsoft.com/office/powerpoint/2010/main" val="4252296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E61F-98CA-FA7F-82E9-C9DEC4BE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Adoption Plan
30-60-90 Day Rollout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5C24C-5B5E-2C4C-1044-28FD3928D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30 days: pilot with one domain and baseline metrics.</a:t>
            </a:r>
          </a:p>
          <a:p>
            <a:r>
              <a:rPr lang="en-US">
                <a:solidFill>
                  <a:srgbClr val="000000"/>
                </a:solidFill>
              </a:rPr>
              <a:t>• 60 days: codify team prompt playbooks and update templates from findings.</a:t>
            </a:r>
          </a:p>
          <a:p>
            <a:r>
              <a:rPr lang="en-US">
                <a:solidFill>
                  <a:srgbClr val="000000"/>
                </a:solidFill>
              </a:rPr>
              <a:t>• 90 days: make agentic scaffolding the default start path for new CoreEx implementations.</a:t>
            </a:r>
          </a:p>
          <a:p>
            <a:r>
              <a:rPr lang="en-US">
                <a:solidFill>
                  <a:srgbClr val="000000"/>
                </a:solidFill>
              </a:rPr>
              <a:t>• Suggested KPIs:</a:t>
            </a:r>
          </a:p>
          <a:p>
            <a:r>
              <a:rPr lang="en-US">
                <a:solidFill>
                  <a:srgbClr val="000000"/>
                </a:solidFill>
              </a:rPr>
              <a:t>• Time to first successful build.</a:t>
            </a:r>
          </a:p>
          <a:p>
            <a:r>
              <a:rPr lang="en-US">
                <a:solidFill>
                  <a:srgbClr val="000000"/>
                </a:solidFill>
              </a:rPr>
              <a:t>• Number of post-generation architecture corrections.</a:t>
            </a:r>
          </a:p>
          <a:p>
            <a:r>
              <a:rPr lang="en-US">
                <a:solidFill>
                  <a:srgbClr val="000000"/>
                </a:solidFill>
              </a:rPr>
              <a:t>• Defect rate in generated boilerplate.</a:t>
            </a:r>
          </a:p>
          <a:p>
            <a:r>
              <a:rPr lang="en-US">
                <a:solidFill>
                  <a:srgbClr val="000000"/>
                </a:solidFill>
              </a:rPr>
              <a:t>• Onboarding time for new engineers.</a:t>
            </a:r>
          </a:p>
        </p:txBody>
      </p:sp>
    </p:spTree>
    <p:extLst>
      <p:ext uri="{BB962C8B-B14F-4D97-AF65-F5344CB8AC3E}">
        <p14:creationId xmlns:p14="http://schemas.microsoft.com/office/powerpoint/2010/main" val="3422533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E308-F18D-F2D9-8BFE-F8A4FC0B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Evidence Pointers
Source Anchors Used for This Deck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BE7A3-21D0-FA24-C633-55FBDBE3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• .github prompts for init, setup, and domain generation.</a:t>
            </a:r>
          </a:p>
          <a:p>
            <a:r>
              <a:rPr lang="en-US">
                <a:solidFill>
                  <a:srgbClr val="000000"/>
                </a:solidFill>
              </a:rPr>
              <a:t>• coreex-starter bootstrap skill and script.</a:t>
            </a:r>
          </a:p>
          <a:p>
            <a:r>
              <a:rPr lang="en-US">
                <a:solidFill>
                  <a:srgbClr val="000000"/>
                </a:solidFill>
              </a:rPr>
              <a:t>• coreex-starter architecture, conventions, and domain guidance docs.</a:t>
            </a:r>
          </a:p>
          <a:p>
            <a:r>
              <a:rPr lang="en-US">
                <a:solidFill>
                  <a:srgbClr val="000000"/>
                </a:solidFill>
              </a:rPr>
              <a:t>• scoped instruction files for controllers, application services, repositories, tests, validators, and host setup.</a:t>
            </a:r>
          </a:p>
        </p:txBody>
      </p:sp>
    </p:spTree>
    <p:extLst>
      <p:ext uri="{BB962C8B-B14F-4D97-AF65-F5344CB8AC3E}">
        <p14:creationId xmlns:p14="http://schemas.microsoft.com/office/powerpoint/2010/main" val="1949512356"/>
      </p:ext>
    </p:extLst>
  </p:cSld>
  <p:clrMapOvr>
    <a:masterClrMapping/>
  </p:clrMapOvr>
</p:sld>
</file>

<file path=ppt/theme/theme1.xml><?xml version="1.0" encoding="utf-8"?>
<a:theme xmlns:a="http://schemas.openxmlformats.org/drawingml/2006/main" name="Unrestricted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F240B1B7-40EC-4E49-BED3-47EE325A089C}"/>
    </a:ext>
  </a:extLst>
</a:theme>
</file>

<file path=ppt/theme/theme2.xml><?xml version="1.0" encoding="utf-8"?>
<a:theme xmlns:a="http://schemas.openxmlformats.org/drawingml/2006/main" name="Confidential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11A3FBB2-F225-4C31-B3D6-111D64843683}"/>
    </a:ext>
  </a:extLst>
</a:theme>
</file>

<file path=ppt/theme/theme3.xml><?xml version="1.0" encoding="utf-8"?>
<a:theme xmlns:a="http://schemas.openxmlformats.org/drawingml/2006/main" name="Highly Confidential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E03917F3-FBE7-41D4-B80D-C8EB52F456EE}"/>
    </a:ext>
  </a:extLst>
</a:theme>
</file>

<file path=ppt/theme/theme4.xml><?xml version="1.0" encoding="utf-8"?>
<a:theme xmlns:a="http://schemas.openxmlformats.org/drawingml/2006/main" name="Restricted">
  <a:themeElements>
    <a:clrScheme name="Custom 72">
      <a:dk1>
        <a:srgbClr val="595959"/>
      </a:dk1>
      <a:lt1>
        <a:srgbClr val="FFFFFF"/>
      </a:lt1>
      <a:dk2>
        <a:srgbClr val="FF5800"/>
      </a:dk2>
      <a:lt2>
        <a:srgbClr val="E7E6E6"/>
      </a:lt2>
      <a:accent1>
        <a:srgbClr val="890078"/>
      </a:accent1>
      <a:accent2>
        <a:srgbClr val="CE0569"/>
      </a:accent2>
      <a:accent3>
        <a:srgbClr val="C80000"/>
      </a:accent3>
      <a:accent4>
        <a:srgbClr val="FFB3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segoe font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_template" id="{C35C8EDA-309A-4DB2-8604-25F636DEC870}" vid="{105EFC40-D825-44F6-AB05-050EE23E99E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AvanadeBranded_PowerPoint_Template</Template>
  <TotalTime>0</TotalTime>
  <Words>2817</Words>
  <Application>Microsoft Office PowerPoint</Application>
  <PresentationFormat>Widescreen</PresentationFormat>
  <Paragraphs>271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Segoe UI</vt:lpstr>
      <vt:lpstr>Segoe UI Light</vt:lpstr>
      <vt:lpstr>Segoe UI Semibold</vt:lpstr>
      <vt:lpstr>Source Sans Pro</vt:lpstr>
      <vt:lpstr>Unrestricted</vt:lpstr>
      <vt:lpstr>Confidential</vt:lpstr>
      <vt:lpstr>Highly Confidential</vt:lpstr>
      <vt:lpstr>Restricted</vt:lpstr>
      <vt:lpstr>Executive Summary
Why This Matters</vt:lpstr>
      <vt:lpstr>Business Value
Impact on Delivery</vt:lpstr>
      <vt:lpstr>Deterministic Foundation + Agentic Speed
Balanced Delivery Model</vt:lpstr>
      <vt:lpstr>What Comes Out of the Box
CoreEx Opinionated Acceleration</vt:lpstr>
      <vt:lpstr>Platform Flexibility
Enterprise Choice Without Chaos</vt:lpstr>
      <vt:lpstr>Decision and Rollout
Recommended Path</vt:lpstr>
      <vt:lpstr>Transition to Technical Deep Dive
Section 2: Full Technical Detail</vt:lpstr>
      <vt:lpstr>Title
The New Agentic Way to Scaffold CoreEx Solutions</vt:lpstr>
      <vt:lpstr>Why Change
Pain in the Previous Approach</vt:lpstr>
      <vt:lpstr>What Is New
Agentic Scaffolding Stack</vt:lpstr>
      <vt:lpstr>Core Building Blocks
Assets in the Repository</vt:lpstr>
      <vt:lpstr>Operating Model
Human + Agent Collaboration</vt:lpstr>
      <vt:lpstr>End-to-End Flow
From Prompt to Running Solution</vt:lpstr>
      <vt:lpstr>Context Hierarchy
How the Agent Stays Aligned to CoreEx</vt:lpstr>
      <vt:lpstr>Generated Architecture
Standard Layered Output</vt:lpstr>
      <vt:lpstr>Products and Shopping Sample Topology
Architecture Shown in the Diagram</vt:lpstr>
      <vt:lpstr>Determinism vs Pure Agentic Variance
Why CoreEx Scaffolding Matters</vt:lpstr>
      <vt:lpstr>Guardrails and Quality Gates
Built-In Enforcement</vt:lpstr>
      <vt:lpstr>Prompt Sequence for Teams
Suggested Delivery Workflow</vt:lpstr>
      <vt:lpstr>Example Ask
Example Prompt to Kick Off Scaffolding</vt:lpstr>
      <vt:lpstr>Benefits Realized
Expected Outcomes</vt:lpstr>
      <vt:lpstr>Platform Flexibility
Not Locked to One Backend or Broker</vt:lpstr>
      <vt:lpstr>CoreEx Capability Inventory (General)
Included Components and Features</vt:lpstr>
      <vt:lpstr>ASP.NET Core and Data Capabilities
Included Web, Data, and Database Features</vt:lpstr>
      <vt:lpstr>Messaging and Domain-Driven Capabilities
Included Eventing and DDD Features</vt:lpstr>
      <vt:lpstr>Current Upgrade Status and Roadmap
What Is Next</vt:lpstr>
      <vt:lpstr>Risks and Mitigations
What to Watch</vt:lpstr>
      <vt:lpstr>Adoption Plan
30-60-90 Day Rollout</vt:lpstr>
      <vt:lpstr>Evidence Pointers
Source Anchors Used for This Deck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Israel Slobodkin</dc:creator>
  <cp:lastModifiedBy>Israel Slobodkin</cp:lastModifiedBy>
  <cp:revision>1</cp:revision>
  <dcterms:created xsi:type="dcterms:W3CDTF">2026-04-21T20:15:36Z</dcterms:created>
  <dcterms:modified xsi:type="dcterms:W3CDTF">2026-04-21T20:15:39Z</dcterms:modified>
</cp:coreProperties>
</file>